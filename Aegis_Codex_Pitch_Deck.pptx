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6" d="100"/>
          <a:sy n="96" d="100"/>
        </p:scale>
        <p:origin x="149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10287000" y="0"/>
            <a:ext cx="1933575" cy="409575"/>
            <a:chOff x="10287000" y="0"/>
            <a:chExt cx="1933575" cy="409575"/>
          </a:xfrm>
        </p:grpSpPr>
        <p:sp>
          <p:nvSpPr>
            <p:cNvPr id="4" name="Polygon 4"/>
            <p:cNvSpPr/>
            <p:nvPr/>
          </p:nvSpPr>
          <p:spPr>
            <a:xfrm>
              <a:off x="10287000" y="0"/>
              <a:ext cx="1905000" cy="381000"/>
            </a:xfrm>
            <a:custGeom>
              <a:avLst/>
              <a:gdLst/>
              <a:ahLst/>
              <a:cxnLst/>
              <a:rect l="l" t="t" r="r" b="b"/>
              <a:pathLst>
                <a:path w="1905000" h="381000">
                  <a:moveTo>
                    <a:pt x="1905000" y="0"/>
                  </a:moveTo>
                  <a:lnTo>
                    <a:pt x="1905000" y="381000"/>
                  </a:lnTo>
                  <a:lnTo>
                    <a:pt x="0" y="3810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FF5C8A"/>
            </a:solidFill>
            <a:ln>
              <a:noFill/>
            </a:ln>
          </p:spPr>
        </p:sp>
        <p:sp>
          <p:nvSpPr>
            <p:cNvPr id="5" name="Polygon 5"/>
            <p:cNvSpPr/>
            <p:nvPr/>
          </p:nvSpPr>
          <p:spPr>
            <a:xfrm>
              <a:off x="10315575" y="28575"/>
              <a:ext cx="1905000" cy="381000"/>
            </a:xfrm>
            <a:custGeom>
              <a:avLst/>
              <a:gdLst/>
              <a:ahLst/>
              <a:cxnLst/>
              <a:rect l="l" t="t" r="r" b="b"/>
              <a:pathLst>
                <a:path w="1905000" h="381000">
                  <a:moveTo>
                    <a:pt x="1905000" y="0"/>
                  </a:moveTo>
                  <a:lnTo>
                    <a:pt x="1905000" y="381000"/>
                  </a:lnTo>
                  <a:lnTo>
                    <a:pt x="0" y="381000"/>
                  </a:lnTo>
                  <a:lnTo>
                    <a:pt x="381000" y="0"/>
                  </a:lnTo>
                  <a:close/>
                </a:path>
              </a:pathLst>
            </a:custGeom>
            <a:solidFill>
              <a:srgbClr val="1E4DBC">
                <a:alpha val="55000"/>
              </a:srgbClr>
            </a:solidFill>
            <a:ln>
              <a:noFill/>
            </a:ln>
          </p:spPr>
        </p:sp>
      </p:grpSp>
      <p:sp>
        <p:nvSpPr>
          <p:cNvPr id="7" name="Rectangle 7"/>
          <p:cNvSpPr/>
          <p:nvPr/>
        </p:nvSpPr>
        <p:spPr>
          <a:xfrm>
            <a:off x="571500" y="476250"/>
            <a:ext cx="11049000" cy="5524500"/>
          </a:xfrm>
          <a:prstGeom prst="rect">
            <a:avLst/>
          </a:prstGeom>
          <a:noFill/>
          <a:ln w="57150">
            <a:solidFill>
              <a:srgbClr val="1E4DBC"/>
            </a:solidFill>
          </a:ln>
        </p:spPr>
      </p:sp>
      <p:sp>
        <p:nvSpPr>
          <p:cNvPr id="8" name="Rectangle 8"/>
          <p:cNvSpPr/>
          <p:nvPr/>
        </p:nvSpPr>
        <p:spPr>
          <a:xfrm>
            <a:off x="600075" y="504825"/>
            <a:ext cx="11049000" cy="5524500"/>
          </a:xfrm>
          <a:prstGeom prst="rect">
            <a:avLst/>
          </a:prstGeom>
          <a:noFill/>
          <a:ln w="57150">
            <a:solidFill>
              <a:srgbClr val="FF5C8A">
                <a:alpha val="75000"/>
              </a:srgbClr>
            </a:solidFill>
          </a:ln>
        </p:spPr>
      </p:sp>
      <p:grpSp>
        <p:nvGrpSpPr>
          <p:cNvPr id="13" name="Group 13"/>
          <p:cNvGrpSpPr/>
          <p:nvPr/>
        </p:nvGrpSpPr>
        <p:grpSpPr>
          <a:xfrm>
            <a:off x="857250" y="762000"/>
            <a:ext cx="3524250" cy="304800"/>
            <a:chOff x="857250" y="762000"/>
            <a:chExt cx="3524250" cy="304800"/>
          </a:xfrm>
        </p:grpSpPr>
        <p:sp>
          <p:nvSpPr>
            <p:cNvPr id="9" name="Rectangle 9"/>
            <p:cNvSpPr/>
            <p:nvPr/>
          </p:nvSpPr>
          <p:spPr>
            <a:xfrm>
              <a:off x="857250" y="762000"/>
              <a:ext cx="2095500" cy="3048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998858" y="864870"/>
              <a:ext cx="181228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OPENAI × OUTSKILL HACKATHON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048000" y="762000"/>
              <a:ext cx="1333500" cy="3048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3259114" y="864870"/>
              <a:ext cx="91127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SWARM: ACTIVE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752475" y="1776412"/>
            <a:ext cx="6573441" cy="1714500"/>
            <a:chOff x="752475" y="1776412"/>
            <a:chExt cx="6573441" cy="1714500"/>
          </a:xfrm>
        </p:grpSpPr>
        <p:sp>
          <p:nvSpPr>
            <p:cNvPr id="14" name="TextBox 14"/>
            <p:cNvSpPr txBox="1"/>
            <p:nvPr/>
          </p:nvSpPr>
          <p:spPr>
            <a:xfrm>
              <a:off x="790575" y="1814512"/>
              <a:ext cx="6535341" cy="1676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AEGIS CODEX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2475" y="1776412"/>
              <a:ext cx="6535341" cy="1676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AEGIS CODEX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36295" y="3012758"/>
            <a:ext cx="6360550" cy="563880"/>
            <a:chOff x="836295" y="3012758"/>
            <a:chExt cx="6360550" cy="563880"/>
          </a:xfrm>
        </p:grpSpPr>
        <p:sp>
          <p:nvSpPr>
            <p:cNvPr id="17" name="TextBox 17"/>
            <p:cNvSpPr txBox="1"/>
            <p:nvPr/>
          </p:nvSpPr>
          <p:spPr>
            <a:xfrm>
              <a:off x="836295" y="3012758"/>
              <a:ext cx="6360550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AUTONOMOUS GEOPOLITICAL &amp; FINANCIAL RISK INTELLIGENCE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43915" y="3363278"/>
              <a:ext cx="335908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5C8A"/>
                  </a:solidFill>
                  <a:latin typeface="Consolas"/>
                  <a:ea typeface="Microsoft YaHei"/>
                  <a:cs typeface="Consolas"/>
                </a:rPr>
                <a:t>ACTIVE GEOPOLITICAL PORTFOLIO STRESSING ENGINE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57250" y="4000500"/>
            <a:ext cx="7458075" cy="1076325"/>
            <a:chOff x="857250" y="4000500"/>
            <a:chExt cx="7458075" cy="1076325"/>
          </a:xfrm>
        </p:grpSpPr>
        <p:sp>
          <p:nvSpPr>
            <p:cNvPr id="20" name="Rectangle 20"/>
            <p:cNvSpPr/>
            <p:nvPr/>
          </p:nvSpPr>
          <p:spPr>
            <a:xfrm>
              <a:off x="857250" y="4000500"/>
              <a:ext cx="2286000" cy="104775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885825" y="4029075"/>
              <a:ext cx="2286000" cy="1047750"/>
            </a:xfrm>
            <a:prstGeom prst="rect">
              <a:avLst/>
            </a:prstGeom>
            <a:solidFill>
              <a:srgbClr val="FF5C8A">
                <a:alpha val="40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857250" y="4000500"/>
              <a:ext cx="2286000" cy="104775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002030" y="4088130"/>
              <a:ext cx="355473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35368" y="4704874"/>
              <a:ext cx="9462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SWARM AGENTS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429000" y="4000500"/>
              <a:ext cx="2286000" cy="104775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457575" y="4029075"/>
              <a:ext cx="2286000" cy="1047750"/>
            </a:xfrm>
            <a:prstGeom prst="rect">
              <a:avLst/>
            </a:prstGeom>
            <a:solidFill>
              <a:srgbClr val="1E4DBC">
                <a:alpha val="20000"/>
              </a:srgbClr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3429000" y="4000500"/>
              <a:ext cx="2286000" cy="104775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73780" y="4088130"/>
              <a:ext cx="499491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12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607118" y="4704874"/>
              <a:ext cx="13421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REAL-TIME API SCANS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000750" y="4000500"/>
              <a:ext cx="2286000" cy="104775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6029325" y="4029075"/>
              <a:ext cx="2286000" cy="1047750"/>
            </a:xfrm>
            <a:prstGeom prst="rect">
              <a:avLst/>
            </a:prstGeom>
            <a:solidFill>
              <a:srgbClr val="FF5C8A">
                <a:alpha val="20000"/>
              </a:srgbClr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00750" y="4000500"/>
              <a:ext cx="2286000" cy="104775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145530" y="4088130"/>
              <a:ext cx="1027557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LIVE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178868" y="4704874"/>
              <a:ext cx="89847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ARIZE TRACING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8572500" y="4000500"/>
            <a:ext cx="2790825" cy="1076325"/>
            <a:chOff x="8572500" y="4000500"/>
            <a:chExt cx="2790825" cy="1076325"/>
          </a:xfrm>
        </p:grpSpPr>
        <p:sp>
          <p:nvSpPr>
            <p:cNvPr id="36" name="Rectangle 36"/>
            <p:cNvSpPr/>
            <p:nvPr/>
          </p:nvSpPr>
          <p:spPr>
            <a:xfrm>
              <a:off x="8572500" y="4000500"/>
              <a:ext cx="2762250" cy="104775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8601075" y="4029075"/>
              <a:ext cx="2762250" cy="1047750"/>
            </a:xfrm>
            <a:prstGeom prst="rect">
              <a:avLst/>
            </a:prstGeom>
            <a:solidFill>
              <a:srgbClr val="FF5C8A">
                <a:alpha val="60000"/>
              </a:srgbClr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8572500" y="4000500"/>
              <a:ext cx="2762250" cy="104775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799195" y="4236720"/>
              <a:ext cx="122301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i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"Every portfolio has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799195" y="4427220"/>
              <a:ext cx="12170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i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a breaking point. We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99195" y="4617720"/>
              <a:ext cx="1325023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i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expose it via debate."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57250" y="5334000"/>
            <a:ext cx="10477500" cy="400050"/>
            <a:chOff x="857250" y="5334000"/>
            <a:chExt cx="10477500" cy="400050"/>
          </a:xfrm>
        </p:grpSpPr>
        <p:sp>
          <p:nvSpPr>
            <p:cNvPr id="43" name="Rectangle 43"/>
            <p:cNvSpPr/>
            <p:nvPr/>
          </p:nvSpPr>
          <p:spPr>
            <a:xfrm>
              <a:off x="857250" y="5334000"/>
              <a:ext cx="10477500" cy="40005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1034415" y="5468302"/>
              <a:ext cx="53634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TEAM: AEGIS | PRESENTER: MOOSA TALHA AL KASERI | IIM KOZHIKODE | BATCH 29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59118" y="6334125"/>
            <a:ext cx="11073765" cy="350044"/>
            <a:chOff x="559118" y="6334125"/>
            <a:chExt cx="11073765" cy="350044"/>
          </a:xfrm>
        </p:grpSpPr>
        <p:sp>
          <p:nvSpPr>
            <p:cNvPr id="46" name="Line 46"/>
            <p:cNvSpPr/>
            <p:nvPr/>
          </p:nvSpPr>
          <p:spPr>
            <a:xfrm>
              <a:off x="571500" y="6334125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19050">
              <a:solidFill>
                <a:srgbClr val="1A1A1A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59118" y="6486049"/>
              <a:ext cx="33271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BUILT WITH: OPENAI CODEX | NVIDIA NIM | ARIZE PHOENIX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841022" y="6486049"/>
              <a:ext cx="79186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75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SLIDE 01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19" grpId="0"/>
      <p:bldP spid="35" grpId="0"/>
      <p:bldP spid="42" grpId="0"/>
      <p:bldP spid="4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-8164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12592050" cy="785812"/>
            <a:chOff x="571500" y="533400"/>
            <a:chExt cx="12592050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12332970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THE PROBLEM / PORTFOLIO GEOPOLITICAL BLIND SPOTS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2939034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01 · TAIL RISK BLINDSPOTS &amp; SILOED ANALYSIS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29" name="Group 29"/>
          <p:cNvGrpSpPr/>
          <p:nvPr/>
        </p:nvGrpSpPr>
        <p:grpSpPr>
          <a:xfrm>
            <a:off x="571500" y="1714500"/>
            <a:ext cx="6343459" cy="3338512"/>
            <a:chOff x="571500" y="1714500"/>
            <a:chExt cx="6343459" cy="3338512"/>
          </a:xfrm>
        </p:grpSpPr>
        <p:grpSp>
          <p:nvGrpSpPr>
            <p:cNvPr id="16" name="Group 16"/>
            <p:cNvGrpSpPr/>
            <p:nvPr/>
          </p:nvGrpSpPr>
          <p:grpSpPr>
            <a:xfrm>
              <a:off x="571500" y="1714500"/>
              <a:ext cx="6343459" cy="862012"/>
              <a:chOff x="571500" y="1714500"/>
              <a:chExt cx="6343459" cy="862012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571500" y="1714500"/>
                <a:ext cx="381000" cy="381000"/>
              </a:xfrm>
              <a:prstGeom prst="rect">
                <a:avLst/>
              </a:prstGeom>
              <a:solidFill>
                <a:srgbClr val="1E4DBC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664520" y="1816418"/>
                <a:ext cx="194960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5EFE0"/>
                    </a:solidFill>
                    <a:latin typeface="Consolas"/>
                    <a:ea typeface="Microsoft YaHei"/>
                    <a:cs typeface="Consolas"/>
                  </a:rPr>
                  <a:t>01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1083945" y="1803082"/>
                <a:ext cx="2077164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1E4DBC"/>
                    </a:solidFill>
                    <a:latin typeface="Impact"/>
                    <a:ea typeface="Microsoft YaHei"/>
                    <a:cs typeface="Impact"/>
                  </a:rPr>
                  <a:t>MACRO SPEED DECAY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1091565" y="2153602"/>
                <a:ext cx="5823394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Traditional models take weeks to assess macro shocks. Geopolitical events compress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1091565" y="2363152"/>
                <a:ext cx="4640247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asset values in hours. Delay is an invitation to capital destruction.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571500" y="2952750"/>
              <a:ext cx="6105430" cy="862012"/>
              <a:chOff x="571500" y="2952750"/>
              <a:chExt cx="6105430" cy="862012"/>
            </a:xfrm>
          </p:grpSpPr>
          <p:sp>
            <p:nvSpPr>
              <p:cNvPr id="17" name="Rectangle 17"/>
              <p:cNvSpPr/>
              <p:nvPr/>
            </p:nvSpPr>
            <p:spPr>
              <a:xfrm>
                <a:off x="571500" y="2952750"/>
                <a:ext cx="381000" cy="381000"/>
              </a:xfrm>
              <a:prstGeom prst="rect">
                <a:avLst/>
              </a:prstGeom>
              <a:solidFill>
                <a:srgbClr val="FF5C8A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640892" y="3054668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1A1A1A"/>
                    </a:solidFill>
                    <a:latin typeface="Consolas"/>
                    <a:ea typeface="Microsoft YaHei"/>
                    <a:cs typeface="Consolas"/>
                  </a:rPr>
                  <a:t>02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1083945" y="3041332"/>
                <a:ext cx="2121170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1E4DBC"/>
                    </a:solidFill>
                    <a:latin typeface="Impact"/>
                    <a:ea typeface="Microsoft YaHei"/>
                    <a:cs typeface="Impact"/>
                  </a:rPr>
                  <a:t>LLM ECHO CHAMBERS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1091565" y="3391852"/>
                <a:ext cx="524232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Single-perspective AI risk summaries suffer from severe confirmation bias.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91565" y="3601402"/>
                <a:ext cx="558536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Structured adversarial debate is mandatory to steel-manned extreme scenarios.</a:t>
                </a:r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571500" y="4191000"/>
              <a:ext cx="5468350" cy="862012"/>
              <a:chOff x="571500" y="4191000"/>
              <a:chExt cx="5468350" cy="862012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571500" y="4191000"/>
                <a:ext cx="381000" cy="381000"/>
              </a:xfrm>
              <a:prstGeom prst="rect">
                <a:avLst/>
              </a:prstGeom>
              <a:solidFill>
                <a:srgbClr val="1A1A1A"/>
              </a:solidFill>
              <a:ln>
                <a:noFill/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640892" y="4292918"/>
                <a:ext cx="242216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350" b="1" dirty="0">
                    <a:solidFill>
                      <a:srgbClr val="F5EFE0"/>
                    </a:solidFill>
                    <a:latin typeface="Consolas"/>
                    <a:ea typeface="Microsoft YaHei"/>
                    <a:cs typeface="Consolas"/>
                  </a:rPr>
                  <a:t>03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1083945" y="4279582"/>
                <a:ext cx="2748248" cy="3352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650" dirty="0">
                    <a:solidFill>
                      <a:srgbClr val="1E4DBC"/>
                    </a:solidFill>
                    <a:latin typeface="Impact"/>
                    <a:ea typeface="Microsoft YaHei"/>
                    <a:cs typeface="Impact"/>
                  </a:rPr>
                  <a:t>THE TELEMETRY BLACK BOX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1091565" y="4630102"/>
                <a:ext cx="4682252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Most agentic architectures run as unmonitored loops. Deploying live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1091565" y="4839652"/>
                <a:ext cx="4948285" cy="213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dirty="0">
                    <a:solidFill>
                      <a:srgbClr val="1A1A1A"/>
                    </a:solidFill>
                    <a:latin typeface="Arial"/>
                    <a:ea typeface="Microsoft YaHei"/>
                    <a:cs typeface="Arial"/>
                  </a:rPr>
                  <a:t>stress-testing without auditable telemetry is a major operational risk.</a:t>
                </a:r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6211324" y="1714500"/>
            <a:ext cx="6322993" cy="4286250"/>
            <a:chOff x="6211324" y="1714500"/>
            <a:chExt cx="6322993" cy="4286250"/>
          </a:xfrm>
        </p:grpSpPr>
        <p:sp>
          <p:nvSpPr>
            <p:cNvPr id="30" name="Rectangle 30"/>
            <p:cNvSpPr/>
            <p:nvPr/>
          </p:nvSpPr>
          <p:spPr>
            <a:xfrm>
              <a:off x="7239000" y="1714500"/>
              <a:ext cx="4381500" cy="22860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6895957" y="1724025"/>
              <a:ext cx="4381500" cy="2286000"/>
            </a:xfrm>
            <a:prstGeom prst="rect">
              <a:avLst/>
            </a:prstGeom>
            <a:solidFill>
              <a:srgbClr val="1E4DBC">
                <a:alpha val="60000"/>
              </a:srgbClr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211324" y="1714500"/>
              <a:ext cx="4381500" cy="22860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433310" y="1794510"/>
              <a:ext cx="1767078" cy="14630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72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93%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63653" y="2905125"/>
              <a:ext cx="6070664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OF FINANCIAL FIRMS CONCERNED ABOUT TAIL-RISK EXPOSURE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86216" y="3226118"/>
              <a:ext cx="461239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YET FEW HAVE SYSTEMATIC TOOLS TO MODEL REAL-TIME CRISES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13320" y="3617595"/>
              <a:ext cx="191909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— INSTITUTIONAL RISK SURVEY 2026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239000" y="4286250"/>
              <a:ext cx="4381500" cy="171450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05700" y="4505325"/>
              <a:ext cx="2598420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THE SYSTEMIC OPPORTUNITY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512368" y="4847749"/>
              <a:ext cx="378223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No tool identifies specific Black Swan risks, validates them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12368" y="5057299"/>
              <a:ext cx="39772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adversarially, maps geographic propagation, models contagion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512368" y="5266849"/>
              <a:ext cx="39772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cascades, and computes distressed valuations transparently.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512368" y="5562124"/>
              <a:ext cx="29325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F5C8A"/>
                  </a:solidFill>
                  <a:latin typeface="Consolas"/>
                  <a:ea typeface="Microsoft YaHei"/>
                  <a:cs typeface="Consolas"/>
                </a:rPr>
                <a:t>&gt; AEGIS CODEX RUNS THIS IN UNDER 60 SECONDS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44" name="Line 44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02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4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12232005" cy="785812"/>
            <a:chOff x="571500" y="533400"/>
            <a:chExt cx="12232005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11972925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PROPOSED SOLUTION &amp; JOURNEY / 4-STEP WATERFALL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28970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02 · THE END-TO-END RISK WATERFALL FLOW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sp>
        <p:nvSpPr>
          <p:cNvPr id="11" name="Rectangle 11"/>
          <p:cNvSpPr/>
          <p:nvPr/>
        </p:nvSpPr>
        <p:spPr>
          <a:xfrm>
            <a:off x="571500" y="1619250"/>
            <a:ext cx="5048250" cy="333375"/>
          </a:xfrm>
          <a:prstGeom prst="rect">
            <a:avLst/>
          </a:prstGeom>
          <a:solidFill>
            <a:srgbClr val="1E4DBC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701040" y="1724978"/>
            <a:ext cx="227605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F5EFE0"/>
                </a:solidFill>
                <a:latin typeface="Consolas"/>
                <a:ea typeface="Microsoft YaHei"/>
                <a:cs typeface="Consolas"/>
              </a:rPr>
              <a:t>PHASE 1: INTELLIGENCE GATHERING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571500" y="2095500"/>
            <a:ext cx="2409825" cy="981075"/>
            <a:chOff x="571500" y="2095500"/>
            <a:chExt cx="2409825" cy="981075"/>
          </a:xfrm>
        </p:grpSpPr>
        <p:sp>
          <p:nvSpPr>
            <p:cNvPr id="13" name="Rectangle 13"/>
            <p:cNvSpPr/>
            <p:nvPr/>
          </p:nvSpPr>
          <p:spPr>
            <a:xfrm>
              <a:off x="571500" y="2095500"/>
              <a:ext cx="2381250" cy="952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600075" y="2124075"/>
              <a:ext cx="2381250" cy="952500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571500" y="2095500"/>
              <a:ext cx="2381250" cy="952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87705" y="2202180"/>
              <a:ext cx="29137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01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32510" y="2270760"/>
              <a:ext cx="1414653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PORTFOLIO INGEST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01992" y="2609374"/>
              <a:ext cx="18839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User imports asset watchlist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01992" y="2771299"/>
              <a:ext cx="140293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via CSV or text input.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3238500" y="2095500"/>
            <a:ext cx="2409825" cy="981075"/>
            <a:chOff x="3238500" y="2095500"/>
            <a:chExt cx="2409825" cy="981075"/>
          </a:xfrm>
        </p:grpSpPr>
        <p:sp>
          <p:nvSpPr>
            <p:cNvPr id="21" name="Rectangle 21"/>
            <p:cNvSpPr/>
            <p:nvPr/>
          </p:nvSpPr>
          <p:spPr>
            <a:xfrm>
              <a:off x="3238500" y="2095500"/>
              <a:ext cx="2381250" cy="952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267075" y="2124075"/>
              <a:ext cx="2381250" cy="952500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3238500" y="2095500"/>
              <a:ext cx="2381250" cy="952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354705" y="2202180"/>
              <a:ext cx="3613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699510" y="2270760"/>
              <a:ext cx="140665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WATCHTOWER SCAN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368992" y="2609374"/>
              <a:ext cx="1688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Searches Tavily &amp; yFinance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368992" y="2771299"/>
              <a:ext cx="20530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to output localized Chaos Index.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571500" y="3238500"/>
            <a:ext cx="2409825" cy="981075"/>
            <a:chOff x="571500" y="3238500"/>
            <a:chExt cx="2409825" cy="981075"/>
          </a:xfrm>
        </p:grpSpPr>
        <p:sp>
          <p:nvSpPr>
            <p:cNvPr id="29" name="Rectangle 29"/>
            <p:cNvSpPr/>
            <p:nvPr/>
          </p:nvSpPr>
          <p:spPr>
            <a:xfrm>
              <a:off x="571500" y="3238500"/>
              <a:ext cx="2381250" cy="952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00075" y="3267075"/>
              <a:ext cx="2381250" cy="952500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71500" y="3238500"/>
              <a:ext cx="2381250" cy="952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7705" y="3345180"/>
              <a:ext cx="3613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03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032510" y="3413760"/>
              <a:ext cx="1246632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TRIBUNAL SWARM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01992" y="3752374"/>
              <a:ext cx="172797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Bear &amp; Bull Analysts debate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01992" y="3914299"/>
              <a:ext cx="192950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scenarios with Judge verdict.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3238500" y="3238500"/>
            <a:ext cx="2409825" cy="981075"/>
            <a:chOff x="3238500" y="3238500"/>
            <a:chExt cx="2409825" cy="981075"/>
          </a:xfrm>
        </p:grpSpPr>
        <p:sp>
          <p:nvSpPr>
            <p:cNvPr id="37" name="Rectangle 37"/>
            <p:cNvSpPr/>
            <p:nvPr/>
          </p:nvSpPr>
          <p:spPr>
            <a:xfrm>
              <a:off x="3238500" y="3238500"/>
              <a:ext cx="2381250" cy="952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8" name="Rectangle 38"/>
            <p:cNvSpPr/>
            <p:nvPr/>
          </p:nvSpPr>
          <p:spPr>
            <a:xfrm>
              <a:off x="3267075" y="3267075"/>
              <a:ext cx="2381250" cy="952500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3238500" y="3238500"/>
              <a:ext cx="2381250" cy="952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3354705" y="3345180"/>
              <a:ext cx="3613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04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699510" y="3413760"/>
              <a:ext cx="130263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VALUATION PATCH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368992" y="3752374"/>
              <a:ext cx="192300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Generates model stress patch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368992" y="3914299"/>
              <a:ext cx="213752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and Investment Committee memo.</a:t>
              </a:r>
            </a:p>
          </p:txBody>
        </p:sp>
      </p:grpSp>
      <p:sp>
        <p:nvSpPr>
          <p:cNvPr id="45" name="Rectangle 45"/>
          <p:cNvSpPr/>
          <p:nvPr/>
        </p:nvSpPr>
        <p:spPr>
          <a:xfrm>
            <a:off x="6191250" y="1619250"/>
            <a:ext cx="5429250" cy="333375"/>
          </a:xfrm>
          <a:prstGeom prst="rect">
            <a:avLst/>
          </a:prstGeom>
          <a:solidFill>
            <a:srgbClr val="FF5C8A"/>
          </a:solidFill>
          <a:ln>
            <a:noFill/>
          </a:ln>
        </p:spPr>
      </p:sp>
      <p:sp>
        <p:nvSpPr>
          <p:cNvPr id="46" name="TextBox 46"/>
          <p:cNvSpPr txBox="1"/>
          <p:nvPr/>
        </p:nvSpPr>
        <p:spPr>
          <a:xfrm>
            <a:off x="6320790" y="1724978"/>
            <a:ext cx="288617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dirty="0">
                <a:solidFill>
                  <a:srgbClr val="1A1A1A"/>
                </a:solidFill>
                <a:latin typeface="Consolas"/>
                <a:ea typeface="Microsoft YaHei"/>
                <a:cs typeface="Consolas"/>
              </a:rPr>
              <a:t>PHASE 2: ADVERSARIAL ANALYSIS &amp; HEDGING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6191250" y="2095500"/>
            <a:ext cx="5457825" cy="838200"/>
            <a:chOff x="6191250" y="2095500"/>
            <a:chExt cx="5457825" cy="838200"/>
          </a:xfrm>
        </p:grpSpPr>
        <p:sp>
          <p:nvSpPr>
            <p:cNvPr id="47" name="Rectangle 47"/>
            <p:cNvSpPr/>
            <p:nvPr/>
          </p:nvSpPr>
          <p:spPr>
            <a:xfrm>
              <a:off x="6191250" y="2095500"/>
              <a:ext cx="5429250" cy="809625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19825" y="2124075"/>
              <a:ext cx="5429250" cy="809625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191250" y="2095500"/>
              <a:ext cx="5429250" cy="809625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7460" y="2165985"/>
              <a:ext cx="4646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05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793230" y="2254568"/>
              <a:ext cx="164549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TELEMETRY RECORD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797040" y="2534602"/>
              <a:ext cx="24279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Traces all prompt inputs, outputs,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797040" y="2706052"/>
              <a:ext cx="276401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and span latencies live to Arize Phoenix.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191250" y="3048000"/>
            <a:ext cx="5457825" cy="838200"/>
            <a:chOff x="6191250" y="3048000"/>
            <a:chExt cx="5457825" cy="838200"/>
          </a:xfrm>
        </p:grpSpPr>
        <p:sp>
          <p:nvSpPr>
            <p:cNvPr id="55" name="Rectangle 55"/>
            <p:cNvSpPr/>
            <p:nvPr/>
          </p:nvSpPr>
          <p:spPr>
            <a:xfrm>
              <a:off x="6191250" y="3048000"/>
              <a:ext cx="5429250" cy="809625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219825" y="3076575"/>
              <a:ext cx="5429250" cy="809625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191250" y="3048000"/>
              <a:ext cx="5429250" cy="809625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47460" y="3118485"/>
              <a:ext cx="4646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06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793230" y="3207068"/>
              <a:ext cx="153747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PORTFOLIO HEDGE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797040" y="3487102"/>
              <a:ext cx="208492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Executes option-hedging rules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797040" y="3658552"/>
              <a:ext cx="2708005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(protective puts) to preserve capital.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191250" y="4000500"/>
            <a:ext cx="5457825" cy="838200"/>
            <a:chOff x="6191250" y="4000500"/>
            <a:chExt cx="5457825" cy="838200"/>
          </a:xfrm>
        </p:grpSpPr>
        <p:sp>
          <p:nvSpPr>
            <p:cNvPr id="63" name="Rectangle 63"/>
            <p:cNvSpPr/>
            <p:nvPr/>
          </p:nvSpPr>
          <p:spPr>
            <a:xfrm>
              <a:off x="6191250" y="4000500"/>
              <a:ext cx="5429250" cy="809625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6219825" y="4029075"/>
              <a:ext cx="5429250" cy="809625"/>
            </a:xfrm>
            <a:prstGeom prst="rect">
              <a:avLst/>
            </a:prstGeom>
            <a:solidFill>
              <a:srgbClr val="EAE2CC">
                <a:alpha val="50000"/>
              </a:srgbClr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6191250" y="4000500"/>
              <a:ext cx="5429250" cy="809625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6347460" y="4070985"/>
              <a:ext cx="46463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7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07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6793230" y="4159568"/>
              <a:ext cx="16544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HUMAN REVIEW GATE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6797040" y="4439602"/>
              <a:ext cx="2119932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Investment Committee reviews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6797040" y="4611052"/>
              <a:ext cx="2729008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and approves distressed WACC changes.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571500" y="5000625"/>
            <a:ext cx="11049000" cy="952500"/>
            <a:chOff x="571500" y="5000625"/>
            <a:chExt cx="11049000" cy="952500"/>
          </a:xfrm>
        </p:grpSpPr>
        <p:sp>
          <p:nvSpPr>
            <p:cNvPr id="71" name="Rectangle 71"/>
            <p:cNvSpPr/>
            <p:nvPr/>
          </p:nvSpPr>
          <p:spPr>
            <a:xfrm>
              <a:off x="571500" y="5000625"/>
              <a:ext cx="11049000" cy="95250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grpSp>
          <p:nvGrpSpPr>
            <p:cNvPr id="74" name="Group 74"/>
            <p:cNvGrpSpPr/>
            <p:nvPr/>
          </p:nvGrpSpPr>
          <p:grpSpPr>
            <a:xfrm>
              <a:off x="776288" y="5176838"/>
              <a:ext cx="200025" cy="200025"/>
              <a:chOff x="776288" y="5176838"/>
              <a:chExt cx="200025" cy="200025"/>
            </a:xfrm>
          </p:grpSpPr>
          <p:sp>
            <p:nvSpPr>
              <p:cNvPr id="72" name="Freeform 72"/>
              <p:cNvSpPr/>
              <p:nvPr/>
            </p:nvSpPr>
            <p:spPr>
              <a:xfrm>
                <a:off x="776288" y="5176838"/>
                <a:ext cx="200025" cy="12521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5215">
                    <a:moveTo>
                      <a:pt x="200025" y="0"/>
                    </a:moveTo>
                    <a:lnTo>
                      <a:pt x="0" y="0"/>
                    </a:lnTo>
                    <a:lnTo>
                      <a:pt x="0" y="85725"/>
                    </a:lnTo>
                    <a:lnTo>
                      <a:pt x="34032" y="85725"/>
                    </a:lnTo>
                    <a:lnTo>
                      <a:pt x="55464" y="42862"/>
                    </a:lnTo>
                    <a:lnTo>
                      <a:pt x="87411" y="42862"/>
                    </a:lnTo>
                    <a:lnTo>
                      <a:pt x="128588" y="125215"/>
                    </a:lnTo>
                    <a:lnTo>
                      <a:pt x="148333" y="85725"/>
                    </a:lnTo>
                    <a:lnTo>
                      <a:pt x="200025" y="85725"/>
                    </a:lnTo>
                    <a:lnTo>
                      <a:pt x="200025" y="0"/>
                    </a:lnTo>
                    <a:close/>
                  </a:path>
                </a:pathLst>
              </a:custGeom>
              <a:solidFill>
                <a:srgbClr val="1E4DBC"/>
              </a:solidFill>
              <a:ln>
                <a:noFill/>
              </a:ln>
            </p:spPr>
          </p:sp>
          <p:sp>
            <p:nvSpPr>
              <p:cNvPr id="73" name="Freeform 73"/>
              <p:cNvSpPr/>
              <p:nvPr/>
            </p:nvSpPr>
            <p:spPr>
              <a:xfrm>
                <a:off x="776288" y="5251648"/>
                <a:ext cx="200025" cy="12521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125215">
                    <a:moveTo>
                      <a:pt x="200025" y="39490"/>
                    </a:moveTo>
                    <a:lnTo>
                      <a:pt x="165992" y="39490"/>
                    </a:lnTo>
                    <a:lnTo>
                      <a:pt x="144561" y="82352"/>
                    </a:lnTo>
                    <a:lnTo>
                      <a:pt x="112614" y="82352"/>
                    </a:lnTo>
                    <a:lnTo>
                      <a:pt x="71438" y="0"/>
                    </a:lnTo>
                    <a:lnTo>
                      <a:pt x="51693" y="39490"/>
                    </a:lnTo>
                    <a:lnTo>
                      <a:pt x="0" y="39490"/>
                    </a:lnTo>
                    <a:lnTo>
                      <a:pt x="0" y="125215"/>
                    </a:lnTo>
                    <a:lnTo>
                      <a:pt x="200025" y="125215"/>
                    </a:lnTo>
                    <a:lnTo>
                      <a:pt x="200025" y="39490"/>
                    </a:lnTo>
                    <a:close/>
                  </a:path>
                </a:pathLst>
              </a:custGeom>
              <a:solidFill>
                <a:srgbClr val="1E4DBC"/>
              </a:solidFill>
              <a:ln>
                <a:noFill/>
              </a:ln>
            </p:spPr>
          </p:sp>
        </p:grpSp>
        <p:sp>
          <p:nvSpPr>
            <p:cNvPr id="75" name="TextBox 75"/>
            <p:cNvSpPr txBox="1"/>
            <p:nvPr/>
          </p:nvSpPr>
          <p:spPr>
            <a:xfrm>
              <a:off x="1082040" y="5201602"/>
              <a:ext cx="63117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⚡ 3 SWARM AGENTS · OPENAI CODEX + NVIDIA NIM ORCHESTRATION · ARIZE PHOENIX TELEMETRY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1082992" y="5466874"/>
              <a:ext cx="627204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Primary models: OpenAI Codex endpoint for code generation, Nvidia NIM Llama 3.3 70B for debates.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1082992" y="5657374"/>
              <a:ext cx="63435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Observability link: Synchronous OTel trace shipper logs agent steps directly to Arize Phoenix SaaS.</a:t>
              </a:r>
            </a:p>
          </p:txBody>
        </p:sp>
      </p:grpSp>
      <p:grpSp>
        <p:nvGrpSpPr>
          <p:cNvPr id="82" name="Group 82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79" name="Line 79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03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31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300"/>
                            </p:stCondLst>
                            <p:childTnLst>
                              <p:par>
                                <p:cTn id="3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35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8" grpId="0"/>
      <p:bldP spid="36" grpId="0"/>
      <p:bldP spid="44" grpId="0"/>
      <p:bldP spid="54" grpId="0"/>
      <p:bldP spid="62" grpId="0"/>
      <p:bldP spid="70" grpId="0"/>
      <p:bldP spid="7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8919591" cy="785812"/>
            <a:chOff x="571500" y="533400"/>
            <a:chExt cx="8919591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8660511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MULTI-AGENT SWARM / CO-ORDINATION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367412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03 · 3 SWARM AGENTS + HUMAN REVIEW + CODEX PATCHING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26" name="Group 26"/>
          <p:cNvGrpSpPr/>
          <p:nvPr/>
        </p:nvGrpSpPr>
        <p:grpSpPr>
          <a:xfrm>
            <a:off x="571500" y="1666875"/>
            <a:ext cx="2076450" cy="3267075"/>
            <a:chOff x="571500" y="1666875"/>
            <a:chExt cx="2076450" cy="3267075"/>
          </a:xfrm>
        </p:grpSpPr>
        <p:sp>
          <p:nvSpPr>
            <p:cNvPr id="11" name="Rectangle 11"/>
            <p:cNvSpPr/>
            <p:nvPr/>
          </p:nvSpPr>
          <p:spPr>
            <a:xfrm>
              <a:off x="571500" y="1666875"/>
              <a:ext cx="2047875" cy="3238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00075" y="1695450"/>
              <a:ext cx="2047875" cy="3238500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71500" y="1666875"/>
              <a:ext cx="2047875" cy="3238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97230" y="1902142"/>
              <a:ext cx="11774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BEAR ANALYST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14375" y="2143125"/>
              <a:ext cx="1000125" cy="209550"/>
            </a:xfrm>
            <a:prstGeom prst="rect">
              <a:avLst/>
            </a:prstGeom>
            <a:solidFill>
              <a:srgbClr val="F5EFE0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70572" y="2206466"/>
              <a:ext cx="73714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PROSECUTION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02945" y="2426970"/>
              <a:ext cx="81495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Temp: T = 0.6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14375" y="2638425"/>
              <a:ext cx="1666875" cy="9525"/>
            </a:xfrm>
            <a:custGeom>
              <a:avLst/>
              <a:gdLst/>
              <a:ahLst/>
              <a:cxnLst/>
              <a:rect l="l" t="t" r="r" b="b"/>
              <a:pathLst>
                <a:path w="1666875" h="9525">
                  <a:moveTo>
                    <a:pt x="0" y="0"/>
                  </a:moveTo>
                  <a:lnTo>
                    <a:pt x="1666875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01992" y="2799874"/>
              <a:ext cx="181248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Argues worst-case scenario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01992" y="2990374"/>
              <a:ext cx="171497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with historical precedents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01992" y="3180874"/>
              <a:ext cx="170847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and catastrophic framing.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01992" y="3371374"/>
              <a:ext cx="168897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Pushes WACC premiums and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01992" y="3561874"/>
              <a:ext cx="174098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revenue haircuts upwards.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01992" y="3752374"/>
              <a:ext cx="125341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Acts as adversarial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01992" y="3942874"/>
              <a:ext cx="14614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counterweight to bull.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809875" y="1666875"/>
            <a:ext cx="2076450" cy="3267075"/>
            <a:chOff x="2809875" y="1666875"/>
            <a:chExt cx="2076450" cy="3267075"/>
          </a:xfrm>
        </p:grpSpPr>
        <p:sp>
          <p:nvSpPr>
            <p:cNvPr id="27" name="Rectangle 27"/>
            <p:cNvSpPr/>
            <p:nvPr/>
          </p:nvSpPr>
          <p:spPr>
            <a:xfrm>
              <a:off x="2809875" y="1666875"/>
              <a:ext cx="2047875" cy="3238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2838450" y="1695450"/>
              <a:ext cx="2047875" cy="3238500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2809875" y="1666875"/>
              <a:ext cx="2047875" cy="3238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2935605" y="1902142"/>
              <a:ext cx="117743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BULL ANALYST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2952750" y="2143125"/>
              <a:ext cx="1000125" cy="20955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3008948" y="2206466"/>
              <a:ext cx="465686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DEFENSE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941320" y="2426970"/>
              <a:ext cx="81495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Temp: T = 0.6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2952750" y="2638425"/>
              <a:ext cx="1666875" cy="9525"/>
            </a:xfrm>
            <a:custGeom>
              <a:avLst/>
              <a:gdLst/>
              <a:ahLst/>
              <a:cxnLst/>
              <a:rect l="l" t="t" r="r" b="b"/>
              <a:pathLst>
                <a:path w="1666875" h="9525">
                  <a:moveTo>
                    <a:pt x="0" y="0"/>
                  </a:moveTo>
                  <a:lnTo>
                    <a:pt x="1666875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2940368" y="2799874"/>
              <a:ext cx="1324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Challenges evidence,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940368" y="2990374"/>
              <a:ext cx="189049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presents mitigating factors,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940368" y="3180874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and argues the market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2940368" y="3371374"/>
              <a:ext cx="143544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has already priced the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2940368" y="3561874"/>
              <a:ext cx="13184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risk in. Pushes WACC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2940368" y="3752374"/>
              <a:ext cx="144844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premiums and severity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2940368" y="3942874"/>
              <a:ext cx="1324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metrics downwards.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048250" y="1666875"/>
            <a:ext cx="2076450" cy="3267075"/>
            <a:chOff x="5048250" y="1666875"/>
            <a:chExt cx="2076450" cy="3267075"/>
          </a:xfrm>
        </p:grpSpPr>
        <p:sp>
          <p:nvSpPr>
            <p:cNvPr id="43" name="Rectangle 43"/>
            <p:cNvSpPr/>
            <p:nvPr/>
          </p:nvSpPr>
          <p:spPr>
            <a:xfrm>
              <a:off x="5048250" y="1666875"/>
              <a:ext cx="2047875" cy="3238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44" name="Rectangle 44"/>
            <p:cNvSpPr/>
            <p:nvPr/>
          </p:nvSpPr>
          <p:spPr>
            <a:xfrm>
              <a:off x="5076825" y="1695450"/>
              <a:ext cx="2047875" cy="3238500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048250" y="1666875"/>
              <a:ext cx="2047875" cy="3238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173980" y="1902142"/>
              <a:ext cx="137545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FRACTURE JUDGE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191125" y="2143125"/>
              <a:ext cx="1000125" cy="20955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247322" y="2206466"/>
              <a:ext cx="760247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FINAL VERDICT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5179695" y="2426970"/>
              <a:ext cx="81495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Temp: T = 0.3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5191125" y="2638425"/>
              <a:ext cx="1666875" cy="9525"/>
            </a:xfrm>
            <a:custGeom>
              <a:avLst/>
              <a:gdLst/>
              <a:ahLst/>
              <a:cxnLst/>
              <a:rect l="l" t="t" r="r" b="b"/>
              <a:pathLst>
                <a:path w="1666875" h="9525">
                  <a:moveTo>
                    <a:pt x="0" y="0"/>
                  </a:moveTo>
                  <a:lnTo>
                    <a:pt x="1666875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5178742" y="2799874"/>
              <a:ext cx="12209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Low-temperature,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5178742" y="2990374"/>
              <a:ext cx="15784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high-conviction arbiter.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178742" y="3180874"/>
              <a:ext cx="13184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Synthesizes debate.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178742" y="3371374"/>
              <a:ext cx="15329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Computes final severity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178742" y="3561874"/>
              <a:ext cx="18579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score and extracts proposed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178742" y="3752374"/>
              <a:ext cx="170847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stress assumptions to the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5178742" y="3942874"/>
              <a:ext cx="11104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valuation engine.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7286625" y="1666875"/>
            <a:ext cx="2076450" cy="3267075"/>
            <a:chOff x="7286625" y="1666875"/>
            <a:chExt cx="2076450" cy="3267075"/>
          </a:xfrm>
        </p:grpSpPr>
        <p:sp>
          <p:nvSpPr>
            <p:cNvPr id="59" name="Rectangle 59"/>
            <p:cNvSpPr/>
            <p:nvPr/>
          </p:nvSpPr>
          <p:spPr>
            <a:xfrm>
              <a:off x="7286625" y="1666875"/>
              <a:ext cx="2047875" cy="3238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60" name="Rectangle 60"/>
            <p:cNvSpPr/>
            <p:nvPr/>
          </p:nvSpPr>
          <p:spPr>
            <a:xfrm>
              <a:off x="7315200" y="1695450"/>
              <a:ext cx="2047875" cy="3238500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61" name="Rectangle 61"/>
            <p:cNvSpPr/>
            <p:nvPr/>
          </p:nvSpPr>
          <p:spPr>
            <a:xfrm>
              <a:off x="7286625" y="1666875"/>
              <a:ext cx="2047875" cy="3238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7412355" y="1902142"/>
              <a:ext cx="165449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HUMAN REVIEW GATE</a:t>
              </a:r>
            </a:p>
          </p:txBody>
        </p:sp>
        <p:sp>
          <p:nvSpPr>
            <p:cNvPr id="63" name="Rectangle 63"/>
            <p:cNvSpPr/>
            <p:nvPr/>
          </p:nvSpPr>
          <p:spPr>
            <a:xfrm>
              <a:off x="7429500" y="2143125"/>
              <a:ext cx="1000125" cy="20955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7485698" y="2206466"/>
              <a:ext cx="852659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EXECUTIVE GATE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418070" y="2426970"/>
              <a:ext cx="110299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Type: PM OVERRIDE</a:t>
              </a:r>
            </a:p>
          </p:txBody>
        </p:sp>
        <p:sp>
          <p:nvSpPr>
            <p:cNvPr id="66" name="Line 66"/>
            <p:cNvSpPr/>
            <p:nvPr/>
          </p:nvSpPr>
          <p:spPr>
            <a:xfrm>
              <a:off x="7429500" y="2638425"/>
              <a:ext cx="1666875" cy="9525"/>
            </a:xfrm>
            <a:custGeom>
              <a:avLst/>
              <a:gdLst/>
              <a:ahLst/>
              <a:cxnLst/>
              <a:rect l="l" t="t" r="r" b="b"/>
              <a:pathLst>
                <a:path w="1666875" h="9525">
                  <a:moveTo>
                    <a:pt x="0" y="0"/>
                  </a:moveTo>
                  <a:lnTo>
                    <a:pt x="1666875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417118" y="2799874"/>
              <a:ext cx="14549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Pauses automation for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417118" y="2990374"/>
              <a:ext cx="12859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executive override.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7417118" y="3180874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PM reviews the tribunal's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7417118" y="3371374"/>
              <a:ext cx="15004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consensus and selects: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7417118" y="3561874"/>
              <a:ext cx="15719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Approve, Soften (-15%),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7417118" y="3752374"/>
              <a:ext cx="13574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or Dismiss, to adjust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7417118" y="3942874"/>
              <a:ext cx="13184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valuations manually.</a:t>
              </a:r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25000" y="1666875"/>
            <a:ext cx="2076450" cy="3267075"/>
            <a:chOff x="9525000" y="1666875"/>
            <a:chExt cx="2076450" cy="3267075"/>
          </a:xfrm>
        </p:grpSpPr>
        <p:sp>
          <p:nvSpPr>
            <p:cNvPr id="75" name="Rectangle 75"/>
            <p:cNvSpPr/>
            <p:nvPr/>
          </p:nvSpPr>
          <p:spPr>
            <a:xfrm>
              <a:off x="9525000" y="1666875"/>
              <a:ext cx="2047875" cy="3238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76" name="Rectangle 76"/>
            <p:cNvSpPr/>
            <p:nvPr/>
          </p:nvSpPr>
          <p:spPr>
            <a:xfrm>
              <a:off x="9553575" y="1695450"/>
              <a:ext cx="2047875" cy="3238500"/>
            </a:xfrm>
            <a:prstGeom prst="rect">
              <a:avLst/>
            </a:prstGeom>
            <a:solidFill>
              <a:srgbClr val="E8A02E">
                <a:alpha val="40000"/>
              </a:srgbClr>
            </a:solidFill>
            <a:ln>
              <a:noFill/>
            </a:ln>
          </p:spPr>
        </p:sp>
        <p:sp>
          <p:nvSpPr>
            <p:cNvPr id="77" name="Rectangle 77"/>
            <p:cNvSpPr/>
            <p:nvPr/>
          </p:nvSpPr>
          <p:spPr>
            <a:xfrm>
              <a:off x="9525000" y="1666875"/>
              <a:ext cx="2047875" cy="3238500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78" name="TextBox 78"/>
            <p:cNvSpPr txBox="1"/>
            <p:nvPr/>
          </p:nvSpPr>
          <p:spPr>
            <a:xfrm>
              <a:off x="9650730" y="1902142"/>
              <a:ext cx="136645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CODEX PATCHING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9667875" y="2143125"/>
              <a:ext cx="1000125" cy="209550"/>
            </a:xfrm>
            <a:prstGeom prst="rect">
              <a:avLst/>
            </a:prstGeom>
            <a:solidFill>
              <a:srgbClr val="F5EFE0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9724072" y="2206466"/>
              <a:ext cx="962398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CODE GENERATION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9656445" y="2426970"/>
              <a:ext cx="80295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Model: CODEX</a:t>
              </a:r>
            </a:p>
          </p:txBody>
        </p:sp>
        <p:sp>
          <p:nvSpPr>
            <p:cNvPr id="82" name="Line 82"/>
            <p:cNvSpPr/>
            <p:nvPr/>
          </p:nvSpPr>
          <p:spPr>
            <a:xfrm>
              <a:off x="9667875" y="2638425"/>
              <a:ext cx="1666875" cy="9525"/>
            </a:xfrm>
            <a:custGeom>
              <a:avLst/>
              <a:gdLst/>
              <a:ahLst/>
              <a:cxnLst/>
              <a:rect l="l" t="t" r="r" b="b"/>
              <a:pathLst>
                <a:path w="1666875" h="9525">
                  <a:moveTo>
                    <a:pt x="0" y="0"/>
                  </a:moveTo>
                  <a:lnTo>
                    <a:pt x="1666875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83" name="TextBox 83"/>
            <p:cNvSpPr txBox="1"/>
            <p:nvPr/>
          </p:nvSpPr>
          <p:spPr>
            <a:xfrm>
              <a:off x="9655492" y="2799874"/>
              <a:ext cx="16044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Auto-generates a Python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655492" y="2990374"/>
              <a:ext cx="14939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stress module subclass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9655492" y="3180874"/>
              <a:ext cx="13899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stub via OpenAI Codex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9655492" y="3371374"/>
              <a:ext cx="132492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to dynamically inject</a:t>
              </a:r>
            </a:p>
          </p:txBody>
        </p:sp>
        <p:sp>
          <p:nvSpPr>
            <p:cNvPr id="87" name="TextBox 87"/>
            <p:cNvSpPr txBox="1"/>
            <p:nvPr/>
          </p:nvSpPr>
          <p:spPr>
            <a:xfrm>
              <a:off x="9655492" y="3561874"/>
              <a:ext cx="13639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stress variables into</a:t>
              </a:r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9655492" y="3752374"/>
              <a:ext cx="13639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the valuation engine.</a:t>
              </a:r>
            </a:p>
          </p:txBody>
        </p:sp>
      </p:grpSp>
      <p:grpSp>
        <p:nvGrpSpPr>
          <p:cNvPr id="94" name="Group 94"/>
          <p:cNvGrpSpPr/>
          <p:nvPr/>
        </p:nvGrpSpPr>
        <p:grpSpPr>
          <a:xfrm>
            <a:off x="571500" y="5095875"/>
            <a:ext cx="11049000" cy="857250"/>
            <a:chOff x="571500" y="5095875"/>
            <a:chExt cx="11049000" cy="857250"/>
          </a:xfrm>
        </p:grpSpPr>
        <p:sp>
          <p:nvSpPr>
            <p:cNvPr id="90" name="Rectangle 90"/>
            <p:cNvSpPr/>
            <p:nvPr/>
          </p:nvSpPr>
          <p:spPr>
            <a:xfrm>
              <a:off x="571500" y="5095875"/>
              <a:ext cx="11049000" cy="85725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91" name="TextBox 91"/>
            <p:cNvSpPr txBox="1"/>
            <p:nvPr/>
          </p:nvSpPr>
          <p:spPr>
            <a:xfrm>
              <a:off x="795338" y="5279231"/>
              <a:ext cx="4529138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WHY ADVERSARIAL SWARMS? // STRENGTHS VS. SINGLE-AGENT BIAS</a:t>
              </a:r>
            </a:p>
          </p:txBody>
        </p:sp>
        <p:sp>
          <p:nvSpPr>
            <p:cNvPr id="92" name="TextBox 92"/>
            <p:cNvSpPr txBox="1"/>
            <p:nvPr/>
          </p:nvSpPr>
          <p:spPr>
            <a:xfrm>
              <a:off x="797242" y="5514499"/>
              <a:ext cx="90218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Single-agent analysis always creates severe confirmation bias. Adversarial architectures force steel-manning before judgement is passed.</a:t>
              </a:r>
            </a:p>
          </p:txBody>
        </p:sp>
        <p:sp>
          <p:nvSpPr>
            <p:cNvPr id="93" name="TextBox 93"/>
            <p:cNvSpPr txBox="1"/>
            <p:nvPr/>
          </p:nvSpPr>
          <p:spPr>
            <a:xfrm>
              <a:off x="797242" y="5676424"/>
              <a:ext cx="765021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Mimics institutional Investment Committee (IC) processes: Research Analyst discovery → IC Debate → final PM decision.</a:t>
              </a:r>
            </a:p>
          </p:txBody>
        </p:sp>
      </p:grpSp>
      <p:grpSp>
        <p:nvGrpSpPr>
          <p:cNvPr id="98" name="Group 98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95" name="Line 95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96" name="TextBox 96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97" name="TextBox 97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04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42" grpId="0"/>
      <p:bldP spid="58" grpId="0"/>
      <p:bldP spid="74" grpId="0"/>
      <p:bldP spid="89" grpId="0"/>
      <p:bldP spid="9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10671810" cy="785812"/>
            <a:chOff x="571500" y="533400"/>
            <a:chExt cx="10671810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10412730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TECHNOLOGY STACK / PLATFORM INTEGRATIONS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362512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04 · ORCHESTRATION, OBSERVABILITY &amp; COMPUTE STACK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19" name="Group 19"/>
          <p:cNvGrpSpPr/>
          <p:nvPr/>
        </p:nvGrpSpPr>
        <p:grpSpPr>
          <a:xfrm>
            <a:off x="571500" y="1714500"/>
            <a:ext cx="3457575" cy="1314450"/>
            <a:chOff x="571500" y="1714500"/>
            <a:chExt cx="3457575" cy="1314450"/>
          </a:xfrm>
        </p:grpSpPr>
        <p:sp>
          <p:nvSpPr>
            <p:cNvPr id="11" name="Rectangle 11"/>
            <p:cNvSpPr/>
            <p:nvPr/>
          </p:nvSpPr>
          <p:spPr>
            <a:xfrm>
              <a:off x="571500" y="1714500"/>
              <a:ext cx="3429000" cy="1285875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00075" y="1743075"/>
              <a:ext cx="3429000" cy="1285875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71500" y="1714500"/>
              <a:ext cx="3429000" cy="1285875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2950" y="1857375"/>
              <a:ext cx="14982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ORCHESTRATION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9618" y="2123599"/>
              <a:ext cx="168344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OpenAI Codex + Nvidia NIM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62000" y="23241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9618" y="2418874"/>
              <a:ext cx="29696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Primary Codex endpoint for model patch code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9618" y="2609374"/>
              <a:ext cx="316465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Failover to Nvidia NIM Llama 3.3 70B for debates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4381500" y="1714500"/>
            <a:ext cx="3457575" cy="1314450"/>
            <a:chOff x="4381500" y="1714500"/>
            <a:chExt cx="3457575" cy="1314450"/>
          </a:xfrm>
        </p:grpSpPr>
        <p:sp>
          <p:nvSpPr>
            <p:cNvPr id="20" name="Rectangle 20"/>
            <p:cNvSpPr/>
            <p:nvPr/>
          </p:nvSpPr>
          <p:spPr>
            <a:xfrm>
              <a:off x="4381500" y="1714500"/>
              <a:ext cx="3429000" cy="1285875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410075" y="1743075"/>
              <a:ext cx="3429000" cy="1285875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381500" y="1714500"/>
              <a:ext cx="3429000" cy="1285875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4552950" y="1857375"/>
              <a:ext cx="140827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OBSERVABILITY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59618" y="2123599"/>
              <a:ext cx="138311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Arize Phoenix (OTel)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4572000" y="23241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559618" y="2418874"/>
              <a:ext cx="286562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Logs spans, inputs, &amp; prompt token counts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559618" y="2609374"/>
              <a:ext cx="30541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Synchronous trace shipper for serverless dev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8191500" y="1714500"/>
            <a:ext cx="3457575" cy="1314450"/>
            <a:chOff x="8191500" y="1714500"/>
            <a:chExt cx="3457575" cy="1314450"/>
          </a:xfrm>
        </p:grpSpPr>
        <p:sp>
          <p:nvSpPr>
            <p:cNvPr id="29" name="Rectangle 29"/>
            <p:cNvSpPr/>
            <p:nvPr/>
          </p:nvSpPr>
          <p:spPr>
            <a:xfrm>
              <a:off x="8191500" y="1714500"/>
              <a:ext cx="3429000" cy="1285875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8220075" y="1743075"/>
              <a:ext cx="3429000" cy="1285875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8191500" y="1714500"/>
              <a:ext cx="3429000" cy="1285875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8362950" y="1857375"/>
              <a:ext cx="1518285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DATA GROUNDING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69618" y="2123599"/>
              <a:ext cx="162201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Tavily Search + yFinance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8382000" y="232410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369618" y="2418874"/>
              <a:ext cx="310615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Live geopolitical news feeds avoid hallucination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369618" y="2609374"/>
              <a:ext cx="297613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yFinance pulls quotes &amp; historical drawdowns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571500" y="3333750"/>
            <a:ext cx="3457575" cy="1314450"/>
            <a:chOff x="571500" y="3333750"/>
            <a:chExt cx="3457575" cy="1314450"/>
          </a:xfrm>
        </p:grpSpPr>
        <p:sp>
          <p:nvSpPr>
            <p:cNvPr id="38" name="Rectangle 38"/>
            <p:cNvSpPr/>
            <p:nvPr/>
          </p:nvSpPr>
          <p:spPr>
            <a:xfrm>
              <a:off x="571500" y="3333750"/>
              <a:ext cx="3429000" cy="1285875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9" name="Rectangle 39"/>
            <p:cNvSpPr/>
            <p:nvPr/>
          </p:nvSpPr>
          <p:spPr>
            <a:xfrm>
              <a:off x="600075" y="3362325"/>
              <a:ext cx="3429000" cy="1285875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571500" y="3333750"/>
              <a:ext cx="3429000" cy="1285875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742950" y="3476625"/>
              <a:ext cx="149828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COMPUTE STACK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49618" y="3742849"/>
              <a:ext cx="11988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Vercel Serverless</a:t>
              </a:r>
            </a:p>
          </p:txBody>
        </p:sp>
        <p:sp>
          <p:nvSpPr>
            <p:cNvPr id="43" name="Line 43"/>
            <p:cNvSpPr/>
            <p:nvPr/>
          </p:nvSpPr>
          <p:spPr>
            <a:xfrm>
              <a:off x="762000" y="39433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749618" y="4038124"/>
              <a:ext cx="29891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REST APIs run on serverless python functions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49618" y="4228624"/>
              <a:ext cx="30671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Low latency executions without persistent VM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4381500" y="3333750"/>
            <a:ext cx="3457575" cy="1314450"/>
            <a:chOff x="4381500" y="3333750"/>
            <a:chExt cx="3457575" cy="1314450"/>
          </a:xfrm>
        </p:grpSpPr>
        <p:sp>
          <p:nvSpPr>
            <p:cNvPr id="47" name="Rectangle 47"/>
            <p:cNvSpPr/>
            <p:nvPr/>
          </p:nvSpPr>
          <p:spPr>
            <a:xfrm>
              <a:off x="4381500" y="3333750"/>
              <a:ext cx="3429000" cy="1285875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4410075" y="3362325"/>
              <a:ext cx="3429000" cy="1285875"/>
            </a:xfrm>
            <a:prstGeom prst="rect">
              <a:avLst/>
            </a:prstGeom>
            <a:solidFill>
              <a:srgbClr val="FF5C8A">
                <a:alpha val="15000"/>
              </a:srgbClr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4381500" y="3333750"/>
              <a:ext cx="3429000" cy="1285875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4552950" y="3476625"/>
              <a:ext cx="156829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FRONTEND LAYER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559618" y="3742849"/>
              <a:ext cx="127389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HTML5 / Vanilla CSS</a:t>
              </a:r>
            </a:p>
          </p:txBody>
        </p:sp>
        <p:sp>
          <p:nvSpPr>
            <p:cNvPr id="52" name="Line 52"/>
            <p:cNvSpPr/>
            <p:nvPr/>
          </p:nvSpPr>
          <p:spPr>
            <a:xfrm>
              <a:off x="4572000" y="39433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559618" y="4038124"/>
              <a:ext cx="265759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High contrast dark dashboard interface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4559618" y="4228624"/>
              <a:ext cx="302814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Collapsing trace tree explorer &amp; radar canvas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8191500" y="3333750"/>
            <a:ext cx="3457575" cy="1314450"/>
            <a:chOff x="8191500" y="3333750"/>
            <a:chExt cx="3457575" cy="1314450"/>
          </a:xfrm>
        </p:grpSpPr>
        <p:sp>
          <p:nvSpPr>
            <p:cNvPr id="56" name="Rectangle 56"/>
            <p:cNvSpPr/>
            <p:nvPr/>
          </p:nvSpPr>
          <p:spPr>
            <a:xfrm>
              <a:off x="8191500" y="3333750"/>
              <a:ext cx="3429000" cy="1285875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220075" y="3362325"/>
              <a:ext cx="3429000" cy="1285875"/>
            </a:xfrm>
            <a:prstGeom prst="rect">
              <a:avLst/>
            </a:prstGeom>
            <a:solidFill>
              <a:srgbClr val="1E4DBC">
                <a:alpha val="40000"/>
              </a:srgbClr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8191500" y="3333750"/>
              <a:ext cx="3429000" cy="1285875"/>
            </a:xfrm>
            <a:prstGeom prst="rect">
              <a:avLst/>
            </a:prstGeom>
            <a:solidFill>
              <a:srgbClr val="1A1A1A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8362950" y="3476625"/>
              <a:ext cx="160829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OTLP TELEMETRY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69618" y="3742849"/>
              <a:ext cx="123976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Arize Phoenix SaaS</a:t>
              </a:r>
            </a:p>
          </p:txBody>
        </p:sp>
        <p:sp>
          <p:nvSpPr>
            <p:cNvPr id="61" name="Line 61"/>
            <p:cNvSpPr/>
            <p:nvPr/>
          </p:nvSpPr>
          <p:spPr>
            <a:xfrm>
              <a:off x="8382000" y="3943350"/>
              <a:ext cx="3048000" cy="9525"/>
            </a:xfrm>
            <a:custGeom>
              <a:avLst/>
              <a:gdLst/>
              <a:ahLst/>
              <a:cxnLst/>
              <a:rect l="l" t="t" r="r" b="b"/>
              <a:pathLst>
                <a:path w="3048000" h="9525">
                  <a:moveTo>
                    <a:pt x="0" y="0"/>
                  </a:moveTo>
                  <a:lnTo>
                    <a:pt x="3048000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62" name="TextBox 62"/>
            <p:cNvSpPr txBox="1"/>
            <p:nvPr/>
          </p:nvSpPr>
          <p:spPr>
            <a:xfrm>
              <a:off x="8369618" y="4038124"/>
              <a:ext cx="288512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Spans, token parameters, &amp; prompt counts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69618" y="4228624"/>
              <a:ext cx="29891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Direct OTLP trace files exported to SaaS link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571500" y="4953000"/>
            <a:ext cx="11049000" cy="952500"/>
            <a:chOff x="571500" y="4953000"/>
            <a:chExt cx="11049000" cy="952500"/>
          </a:xfrm>
        </p:grpSpPr>
        <p:sp>
          <p:nvSpPr>
            <p:cNvPr id="65" name="Rectangle 65"/>
            <p:cNvSpPr/>
            <p:nvPr/>
          </p:nvSpPr>
          <p:spPr>
            <a:xfrm>
              <a:off x="571500" y="4953000"/>
              <a:ext cx="11049000" cy="95250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795338" y="5164931"/>
              <a:ext cx="276154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OBSERVABILITY &amp; HACKATHON CRITERIA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97242" y="5419249"/>
              <a:ext cx="73966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▸ Serverless telemetry: Synchronous trace shipper ensures OTel data ingestion before lambda container suspension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797242" y="5609749"/>
              <a:ext cx="670109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▸ Grounded AI: Every agent output is anchored in live financial metrics and real-time news search results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70" name="Line 70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05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4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8" grpId="0"/>
      <p:bldP spid="37" grpId="0"/>
      <p:bldP spid="46" grpId="0"/>
      <p:bldP spid="55" grpId="0"/>
      <p:bldP spid="64" grpId="0"/>
      <p:bldP spid="6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-8164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7887462" cy="785812"/>
            <a:chOff x="571500" y="533400"/>
            <a:chExt cx="7887462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7628382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IMPLEMENTATION PLAN / ROADMAP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336608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05 · PRODUCT DEPLOYMENT &amp; MILESTONES ROADMAP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13" name="Group 13"/>
          <p:cNvGrpSpPr/>
          <p:nvPr/>
        </p:nvGrpSpPr>
        <p:grpSpPr>
          <a:xfrm>
            <a:off x="1143000" y="3429000"/>
            <a:ext cx="9906000" cy="47625"/>
            <a:chOff x="1143000" y="3429000"/>
            <a:chExt cx="9906000" cy="47625"/>
          </a:xfrm>
        </p:grpSpPr>
        <p:sp>
          <p:nvSpPr>
            <p:cNvPr id="11" name="Line 11"/>
            <p:cNvSpPr/>
            <p:nvPr/>
          </p:nvSpPr>
          <p:spPr>
            <a:xfrm>
              <a:off x="1143000" y="342900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38100">
              <a:solidFill>
                <a:srgbClr val="1A1A1A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143000" y="3467100"/>
              <a:ext cx="9906000" cy="9525"/>
            </a:xfrm>
            <a:custGeom>
              <a:avLst/>
              <a:gdLst/>
              <a:ahLst/>
              <a:cxnLst/>
              <a:rect l="l" t="t" r="r" b="b"/>
              <a:pathLst>
                <a:path w="9906000" h="9525">
                  <a:moveTo>
                    <a:pt x="0" y="0"/>
                  </a:moveTo>
                  <a:lnTo>
                    <a:pt x="9906000" y="0"/>
                  </a:lnTo>
                </a:path>
              </a:pathLst>
            </a:custGeom>
            <a:noFill/>
            <a:ln w="19050">
              <a:solidFill>
                <a:srgbClr val="FF5C8A">
                  <a:alpha val="80000"/>
                </a:srgbClr>
              </a:solidFill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142999" y="2057404"/>
            <a:ext cx="2229874" cy="2257422"/>
            <a:chOff x="1143000" y="2571750"/>
            <a:chExt cx="1743075" cy="1743075"/>
          </a:xfrm>
        </p:grpSpPr>
        <p:sp>
          <p:nvSpPr>
            <p:cNvPr id="14" name="Rectangle 14"/>
            <p:cNvSpPr/>
            <p:nvPr/>
          </p:nvSpPr>
          <p:spPr>
            <a:xfrm>
              <a:off x="1143000" y="2571750"/>
              <a:ext cx="1714500" cy="1714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171575" y="2600325"/>
              <a:ext cx="1714500" cy="1714500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1143000" y="2571750"/>
              <a:ext cx="1714500" cy="1714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402300" y="2726055"/>
              <a:ext cx="291370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1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N1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3267075"/>
              <a:ext cx="10082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IMMEDIATE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323022" y="3530441"/>
              <a:ext cx="1247824" cy="19606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FF5C8A"/>
                  </a:solidFill>
                  <a:latin typeface="Consolas"/>
                  <a:ea typeface="Microsoft YaHei"/>
                  <a:cs typeface="Consolas"/>
                </a:rPr>
                <a:t>SEC EDGAR 10-K Item 1A auto-parsing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22070" y="3808095"/>
              <a:ext cx="121700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Auto-parse Item 1A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22070" y="3979545"/>
              <a:ext cx="1132999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filing risk sections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3619499" y="2057404"/>
            <a:ext cx="2229874" cy="2257422"/>
            <a:chOff x="3619500" y="2571750"/>
            <a:chExt cx="1743075" cy="1743075"/>
          </a:xfrm>
        </p:grpSpPr>
        <p:sp>
          <p:nvSpPr>
            <p:cNvPr id="23" name="Rectangle 23"/>
            <p:cNvSpPr/>
            <p:nvPr/>
          </p:nvSpPr>
          <p:spPr>
            <a:xfrm>
              <a:off x="3619500" y="2571750"/>
              <a:ext cx="1714500" cy="1714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648075" y="2600325"/>
              <a:ext cx="1714500" cy="1714500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3619500" y="2571750"/>
              <a:ext cx="1714500" cy="1714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808792" y="2726055"/>
              <a:ext cx="361379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1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N2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790950" y="3267075"/>
              <a:ext cx="1128236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NEXT WEEKS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99523" y="3530441"/>
              <a:ext cx="1341024" cy="19606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SEBI / BSE filing integration for Indian equities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798570" y="3808095"/>
              <a:ext cx="14630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Support Indian equities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798570" y="3979545"/>
              <a:ext cx="142103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Deep regulatory scans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0" y="2057404"/>
            <a:ext cx="2461513" cy="2257422"/>
            <a:chOff x="6096000" y="2571750"/>
            <a:chExt cx="1924145" cy="1743075"/>
          </a:xfrm>
        </p:grpSpPr>
        <p:sp>
          <p:nvSpPr>
            <p:cNvPr id="32" name="Rectangle 32"/>
            <p:cNvSpPr/>
            <p:nvPr/>
          </p:nvSpPr>
          <p:spPr>
            <a:xfrm>
              <a:off x="6096000" y="2571750"/>
              <a:ext cx="1714500" cy="1714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124575" y="2600325"/>
              <a:ext cx="1714500" cy="1714500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96000" y="2571750"/>
              <a:ext cx="1714500" cy="1714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7229284" y="2726055"/>
              <a:ext cx="417386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1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Q3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67450" y="3267075"/>
              <a:ext cx="101822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QUARTER 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276022" y="3530441"/>
              <a:ext cx="1370648" cy="19606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Portfolio-level analysis + cross-holding correlation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275070" y="3808095"/>
              <a:ext cx="169106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Cross-holding correlations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5070" y="3979545"/>
              <a:ext cx="1745075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McKinsey-style PDF reports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8572501" y="2057404"/>
            <a:ext cx="2261922" cy="2257422"/>
            <a:chOff x="8572500" y="2571750"/>
            <a:chExt cx="1768126" cy="1743075"/>
          </a:xfrm>
        </p:grpSpPr>
        <p:sp>
          <p:nvSpPr>
            <p:cNvPr id="41" name="Rectangle 41"/>
            <p:cNvSpPr/>
            <p:nvPr/>
          </p:nvSpPr>
          <p:spPr>
            <a:xfrm>
              <a:off x="8572500" y="2571750"/>
              <a:ext cx="1714500" cy="1714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601075" y="2600325"/>
              <a:ext cx="1714500" cy="1714500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8572500" y="2571750"/>
              <a:ext cx="1714500" cy="1714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9705784" y="2726055"/>
              <a:ext cx="417386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21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Q4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743950" y="3267075"/>
              <a:ext cx="1018222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QUARTER 4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8752523" y="3530442"/>
              <a:ext cx="1152525" cy="2940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"Lying Gap" news vs filing divergence = alpha signal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751570" y="3808095"/>
              <a:ext cx="158905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News vs filing divergence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751570" y="3979545"/>
              <a:ext cx="127101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Slack/Teams alarms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571500" y="4667250"/>
            <a:ext cx="11049000" cy="1333500"/>
            <a:chOff x="571500" y="4667250"/>
            <a:chExt cx="11049000" cy="1333500"/>
          </a:xfrm>
        </p:grpSpPr>
        <p:sp>
          <p:nvSpPr>
            <p:cNvPr id="50" name="Rectangle 50"/>
            <p:cNvSpPr/>
            <p:nvPr/>
          </p:nvSpPr>
          <p:spPr>
            <a:xfrm>
              <a:off x="571500" y="4667250"/>
              <a:ext cx="11049000" cy="133350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96290" y="4839652"/>
              <a:ext cx="2717106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⚡ VALUE ADDED ROADMAP ENHANCEMENTS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97242" y="5085874"/>
              <a:ext cx="920391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"Lying Gap" detection (Q4) surfaces alpha signals when company filing statements significantly diverge from live geopolitical search streams.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97242" y="5276374"/>
              <a:ext cx="852132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Macro Feedback loops dynamically scale global baseline fear indexes, scaling asset haircuts non-linearly if Chaos scores exceed 0.8.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97242" y="5466874"/>
              <a:ext cx="778673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Slack and Teams webhook alerting ensures portfolio managers receive immediate verdicts directly on corporate devices.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56" name="Line 56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06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2" grpId="0"/>
      <p:bldP spid="31" grpId="0"/>
      <p:bldP spid="40" grpId="0"/>
      <p:bldP spid="49" grpId="0"/>
      <p:bldP spid="5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8559546" cy="785812"/>
            <a:chOff x="571500" y="533400"/>
            <a:chExt cx="8559546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8300466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FEASIBILITY &amp; GO-TO-MARKET MODEL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331708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06 · BUSINESS MODEL, TIERING &amp; HIGH UNIT MARGINS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20" name="Group 20"/>
          <p:cNvGrpSpPr/>
          <p:nvPr/>
        </p:nvGrpSpPr>
        <p:grpSpPr>
          <a:xfrm>
            <a:off x="571500" y="1714500"/>
            <a:ext cx="2505075" cy="1743075"/>
            <a:chOff x="571500" y="1714500"/>
            <a:chExt cx="2505075" cy="1743075"/>
          </a:xfrm>
        </p:grpSpPr>
        <p:sp>
          <p:nvSpPr>
            <p:cNvPr id="11" name="Rectangle 11"/>
            <p:cNvSpPr/>
            <p:nvPr/>
          </p:nvSpPr>
          <p:spPr>
            <a:xfrm>
              <a:off x="571500" y="1714500"/>
              <a:ext cx="2476500" cy="1714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00075" y="1743075"/>
              <a:ext cx="2476500" cy="1714500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71500" y="1714500"/>
              <a:ext cx="2476500" cy="17145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1045" y="1869758"/>
              <a:ext cx="145008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FREE / RETAIL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2140268"/>
              <a:ext cx="1055018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F5EFE0"/>
                  </a:solidFill>
                  <a:latin typeface="Consolas"/>
                  <a:ea typeface="Microsoft YaHei"/>
                  <a:cs typeface="Consolas"/>
                </a:rPr>
                <a:t>$0 / MONTH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762000" y="24003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49618" y="2542699"/>
              <a:ext cx="161746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Retail &amp; Student access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49618" y="2733199"/>
              <a:ext cx="171497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3 watchlist analyses/day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618" y="2923699"/>
              <a:ext cx="18644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● Main funnel lead generation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333750" y="1714500"/>
            <a:ext cx="2505075" cy="1743075"/>
            <a:chOff x="3333750" y="1714500"/>
            <a:chExt cx="2505075" cy="1743075"/>
          </a:xfrm>
        </p:grpSpPr>
        <p:sp>
          <p:nvSpPr>
            <p:cNvPr id="21" name="Rectangle 21"/>
            <p:cNvSpPr/>
            <p:nvPr/>
          </p:nvSpPr>
          <p:spPr>
            <a:xfrm>
              <a:off x="3333750" y="1714500"/>
              <a:ext cx="2476500" cy="1714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3362325" y="1743075"/>
              <a:ext cx="2476500" cy="1714500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3333750" y="1714500"/>
              <a:ext cx="2476500" cy="17145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3503295" y="1869758"/>
              <a:ext cx="944023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PRO TIER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507105" y="2140268"/>
              <a:ext cx="14803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$99 - $299 / MO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3524250" y="24003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3511868" y="2542699"/>
              <a:ext cx="190350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Analysts, RIAs &amp; Small funds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511868" y="2733199"/>
              <a:ext cx="18644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Unlimited risk scan vectors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511868" y="2923699"/>
              <a:ext cx="174748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PDF IC memo exports &amp; API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571500" y="3714750"/>
            <a:ext cx="2505075" cy="1743075"/>
            <a:chOff x="571500" y="3714750"/>
            <a:chExt cx="2505075" cy="1743075"/>
          </a:xfrm>
        </p:grpSpPr>
        <p:sp>
          <p:nvSpPr>
            <p:cNvPr id="31" name="Rectangle 31"/>
            <p:cNvSpPr/>
            <p:nvPr/>
          </p:nvSpPr>
          <p:spPr>
            <a:xfrm>
              <a:off x="571500" y="3714750"/>
              <a:ext cx="2476500" cy="1714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600075" y="3743325"/>
              <a:ext cx="2476500" cy="1714500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1500" y="3714750"/>
              <a:ext cx="2476500" cy="1714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41045" y="3870008"/>
              <a:ext cx="1494092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INSTITUTIONAL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44855" y="4140518"/>
              <a:ext cx="143306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$2K - $10K / MO</a:t>
              </a:r>
            </a:p>
          </p:txBody>
        </p:sp>
        <p:sp>
          <p:nvSpPr>
            <p:cNvPr id="36" name="Line 36"/>
            <p:cNvSpPr/>
            <p:nvPr/>
          </p:nvSpPr>
          <p:spPr>
            <a:xfrm>
              <a:off x="762000" y="440055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49618" y="4542949"/>
              <a:ext cx="215053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Hedge funds, PE, Family offices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9618" y="4733449"/>
              <a:ext cx="168247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White-label integrations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49618" y="4923949"/>
              <a:ext cx="186449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SEC EDGAR / SEBI compliance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3333750" y="3714750"/>
            <a:ext cx="2505075" cy="1743075"/>
            <a:chOff x="3333750" y="3714750"/>
            <a:chExt cx="2505075" cy="1743075"/>
          </a:xfrm>
        </p:grpSpPr>
        <p:sp>
          <p:nvSpPr>
            <p:cNvPr id="41" name="Rectangle 41"/>
            <p:cNvSpPr/>
            <p:nvPr/>
          </p:nvSpPr>
          <p:spPr>
            <a:xfrm>
              <a:off x="3333750" y="3714750"/>
              <a:ext cx="2476500" cy="17145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3362325" y="3743325"/>
              <a:ext cx="2476500" cy="1714500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43" name="Rectangle 43"/>
            <p:cNvSpPr/>
            <p:nvPr/>
          </p:nvSpPr>
          <p:spPr>
            <a:xfrm>
              <a:off x="3333750" y="3714750"/>
              <a:ext cx="2476500" cy="17145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3503295" y="3870008"/>
              <a:ext cx="1208056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API SERVICE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3507105" y="4140518"/>
              <a:ext cx="148032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PER-CALL METER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3524250" y="440055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3511868" y="4542949"/>
              <a:ext cx="172147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Fintechs &amp; Robo-advisors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3511868" y="4733449"/>
              <a:ext cx="184499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Embeddable stress modules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511868" y="4923949"/>
              <a:ext cx="19165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Direct programmatic access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191250" y="1714500"/>
            <a:ext cx="5429250" cy="3714750"/>
            <a:chOff x="6191250" y="1714500"/>
            <a:chExt cx="5429250" cy="3714750"/>
          </a:xfrm>
        </p:grpSpPr>
        <p:sp>
          <p:nvSpPr>
            <p:cNvPr id="51" name="Rectangle 51"/>
            <p:cNvSpPr/>
            <p:nvPr/>
          </p:nvSpPr>
          <p:spPr>
            <a:xfrm>
              <a:off x="6191250" y="1714500"/>
              <a:ext cx="5429250" cy="371475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454140" y="1948815"/>
              <a:ext cx="375418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AEGIS PLATFORM UNIT ECONOMICS</a:t>
              </a:r>
            </a:p>
          </p:txBody>
        </p:sp>
        <p:sp>
          <p:nvSpPr>
            <p:cNvPr id="53" name="Line 53"/>
            <p:cNvSpPr/>
            <p:nvPr/>
          </p:nvSpPr>
          <p:spPr>
            <a:xfrm>
              <a:off x="6477000" y="2266950"/>
              <a:ext cx="4857750" cy="9525"/>
            </a:xfrm>
            <a:custGeom>
              <a:avLst/>
              <a:gdLst/>
              <a:ahLst/>
              <a:cxnLst/>
              <a:rect l="l" t="t" r="r" b="b"/>
              <a:pathLst>
                <a:path w="4857750" h="9525">
                  <a:moveTo>
                    <a:pt x="0" y="0"/>
                  </a:moveTo>
                  <a:lnTo>
                    <a:pt x="4857750" y="0"/>
                  </a:lnTo>
                </a:path>
              </a:pathLst>
            </a:custGeom>
            <a:noFill/>
            <a:ln w="14288">
              <a:solidFill>
                <a:srgbClr val="1A1A1A"/>
              </a:solidFill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461760" y="2489835"/>
              <a:ext cx="1945919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OpenAI / NVIDIA API Cost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464618" y="2704624"/>
              <a:ext cx="356770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Extracts, filters, and formats structured parameters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9715690" y="2520315"/>
              <a:ext cx="16419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8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$0.03 - $0.08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461760" y="3108960"/>
              <a:ext cx="1525867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Tavily Search Cost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464618" y="3323749"/>
              <a:ext cx="313215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5A5A5A"/>
                  </a:solidFill>
                  <a:latin typeface="Arial"/>
                  <a:ea typeface="Microsoft YaHei"/>
                  <a:cs typeface="Arial"/>
                </a:rPr>
                <a:t>Triggers 6 parallel web-scrape intelligence paths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9775698" y="3139440"/>
              <a:ext cx="1581912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8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$0.01 - $0.02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6477000" y="3714750"/>
              <a:ext cx="4857750" cy="47625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6650355" y="3873818"/>
              <a:ext cx="25546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GROSS MARGIN AT SCALE: &gt;95%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9793048" y="3906202"/>
              <a:ext cx="1364537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1050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EXCEL UNIT METRICS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459855" y="4378642"/>
              <a:ext cx="296865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EMERGING MARKET (BSE/NSE) MOAT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6464618" y="4657249"/>
              <a:ext cx="482236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Western risk analytics engines neglect emerging market micro-structures.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6464618" y="4847749"/>
              <a:ext cx="439331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Aegis Codex fills this gap with native Indian market feeds (NSE/BSE),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6464618" y="5038249"/>
              <a:ext cx="45948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providing a massive data and positioning moat for local asset managers.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68" name="Line 68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07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23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30" grpId="0"/>
      <p:bldP spid="40" grpId="0"/>
      <p:bldP spid="50" grpId="0"/>
      <p:bldP spid="6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9" name="Group 9"/>
          <p:cNvGrpSpPr/>
          <p:nvPr/>
        </p:nvGrpSpPr>
        <p:grpSpPr>
          <a:xfrm>
            <a:off x="571500" y="533400"/>
            <a:ext cx="6903339" cy="785812"/>
            <a:chOff x="571500" y="533400"/>
            <a:chExt cx="6903339" cy="785812"/>
          </a:xfrm>
        </p:grpSpPr>
        <p:sp>
          <p:nvSpPr>
            <p:cNvPr id="4" name="Rectangle 4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5" name="Rectangle 5"/>
            <p:cNvSpPr/>
            <p:nvPr/>
          </p:nvSpPr>
          <p:spPr>
            <a:xfrm>
              <a:off x="600075" y="561975"/>
              <a:ext cx="133350" cy="647700"/>
            </a:xfrm>
            <a:prstGeom prst="rect">
              <a:avLst/>
            </a:prstGeom>
            <a:solidFill>
              <a:srgbClr val="FF5C8A">
                <a:alpha val="70000"/>
              </a:srgbClr>
            </a:solidFill>
            <a:ln>
              <a:noFill/>
            </a:ln>
          </p:spPr>
        </p:sp>
        <p:sp>
          <p:nvSpPr>
            <p:cNvPr id="6" name="Rectangle 6"/>
            <p:cNvSpPr/>
            <p:nvPr/>
          </p:nvSpPr>
          <p:spPr>
            <a:xfrm>
              <a:off x="571500" y="533400"/>
              <a:ext cx="133350" cy="6477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0580" y="544830"/>
              <a:ext cx="6644259" cy="7315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INNOVATIONS &amp; FUTURE SCOPE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62965" y="1105852"/>
              <a:ext cx="3639121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07 · PRODUCT DIFFERENTIATORS &amp; NOVEL METHODOLOGY</a:t>
              </a:r>
            </a:p>
          </p:txBody>
        </p:sp>
      </p:grpSp>
      <p:sp>
        <p:nvSpPr>
          <p:cNvPr id="10" name="Line 10"/>
          <p:cNvSpPr/>
          <p:nvPr/>
        </p:nvSpPr>
        <p:spPr>
          <a:xfrm>
            <a:off x="571500" y="1447800"/>
            <a:ext cx="11049000" cy="9525"/>
          </a:xfrm>
          <a:custGeom>
            <a:avLst/>
            <a:gdLst/>
            <a:ahLst/>
            <a:cxnLst/>
            <a:rect l="l" t="t" r="r" b="b"/>
            <a:pathLst>
              <a:path w="11049000" h="9525">
                <a:moveTo>
                  <a:pt x="0" y="0"/>
                </a:moveTo>
                <a:lnTo>
                  <a:pt x="11049000" y="0"/>
                </a:lnTo>
              </a:path>
            </a:pathLst>
          </a:custGeom>
          <a:noFill/>
          <a:ln w="28575">
            <a:solidFill>
              <a:srgbClr val="1A1A1A"/>
            </a:solidFill>
          </a:ln>
        </p:spPr>
      </p:sp>
      <p:grpSp>
        <p:nvGrpSpPr>
          <p:cNvPr id="27" name="Group 27"/>
          <p:cNvGrpSpPr/>
          <p:nvPr/>
        </p:nvGrpSpPr>
        <p:grpSpPr>
          <a:xfrm>
            <a:off x="571500" y="1714500"/>
            <a:ext cx="2505075" cy="3076575"/>
            <a:chOff x="571500" y="1714500"/>
            <a:chExt cx="2505075" cy="3076575"/>
          </a:xfrm>
        </p:grpSpPr>
        <p:sp>
          <p:nvSpPr>
            <p:cNvPr id="11" name="Rectangle 11"/>
            <p:cNvSpPr/>
            <p:nvPr/>
          </p:nvSpPr>
          <p:spPr>
            <a:xfrm>
              <a:off x="571500" y="1714500"/>
              <a:ext cx="2476500" cy="30480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00075" y="1743075"/>
              <a:ext cx="2476500" cy="3048000"/>
            </a:xfrm>
            <a:prstGeom prst="rect">
              <a:avLst/>
            </a:prstGeom>
            <a:solidFill>
              <a:srgbClr val="FF5C8A">
                <a:alpha val="55000"/>
              </a:srgbClr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571500" y="1714500"/>
              <a:ext cx="2476500" cy="3048000"/>
            </a:xfrm>
            <a:prstGeom prst="rect">
              <a:avLst/>
            </a:prstGeom>
            <a:solidFill>
              <a:srgbClr val="1E4DBC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742950" y="1933575"/>
              <a:ext cx="208121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4855" y="2187892"/>
              <a:ext cx="13934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CONTEXT-AWARE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4855" y="2378392"/>
              <a:ext cx="101541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5EFE0"/>
                  </a:solidFill>
                  <a:latin typeface="Impact"/>
                  <a:ea typeface="Microsoft YaHei"/>
                  <a:cs typeface="Impact"/>
                </a:rPr>
                <a:t>VALUATIONS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762000" y="26670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F5EFE0">
                  <a:alpha val="30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49618" y="2847499"/>
              <a:ext cx="144194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Five distinct valuation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9618" y="3037999"/>
              <a:ext cx="166947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methodologies dynamically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49618" y="3228499"/>
              <a:ext cx="157195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routed based on sector.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49618" y="3418999"/>
              <a:ext cx="160446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Banks are stress-tested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49618" y="3609499"/>
              <a:ext cx="14094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via P/BV; cyclicals via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49618" y="3799999"/>
              <a:ext cx="153295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EBITDA; and high growth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49618" y="3990499"/>
              <a:ext cx="15784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equities via EV/Revenue.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9618" y="4180999"/>
              <a:ext cx="15004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All haircuts are market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49618" y="4371499"/>
              <a:ext cx="15849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F5EFE0"/>
                  </a:solidFill>
                  <a:latin typeface="Arial"/>
                  <a:ea typeface="Microsoft YaHei"/>
                  <a:cs typeface="Arial"/>
                </a:rPr>
                <a:t>anchored and downward.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3333750" y="1714500"/>
            <a:ext cx="2505075" cy="3076575"/>
            <a:chOff x="3333750" y="1714500"/>
            <a:chExt cx="2505075" cy="3076575"/>
          </a:xfrm>
        </p:grpSpPr>
        <p:sp>
          <p:nvSpPr>
            <p:cNvPr id="28" name="Rectangle 28"/>
            <p:cNvSpPr/>
            <p:nvPr/>
          </p:nvSpPr>
          <p:spPr>
            <a:xfrm>
              <a:off x="3333750" y="1714500"/>
              <a:ext cx="2476500" cy="30480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3362325" y="1743075"/>
              <a:ext cx="2476500" cy="3048000"/>
            </a:xfrm>
            <a:prstGeom prst="rect">
              <a:avLst/>
            </a:prstGeom>
            <a:solidFill>
              <a:srgbClr val="1E4DBC">
                <a:alpha val="55000"/>
              </a:srgbClr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333750" y="1714500"/>
              <a:ext cx="2476500" cy="304800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3505200" y="1933575"/>
              <a:ext cx="25812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02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507105" y="2187892"/>
              <a:ext cx="101541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GEOGRAPHIC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507105" y="2378392"/>
              <a:ext cx="11324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INTELLIGENCE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3524250" y="26670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3511868" y="2847499"/>
              <a:ext cx="165646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Every identified threat is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511868" y="3037999"/>
              <a:ext cx="150044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instantly mapped to its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3511868" y="3228499"/>
              <a:ext cx="13964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physical coordinates.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511868" y="3418999"/>
              <a:ext cx="161096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Curved convergence lines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3511868" y="3609499"/>
              <a:ext cx="15784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illustrate concentration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3511868" y="3799999"/>
              <a:ext cx="187749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of supply chain vulnerability,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511868" y="3990499"/>
              <a:ext cx="19100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instantly visualising exposure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3511868" y="4180999"/>
              <a:ext cx="140943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risks globally in under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511868" y="4371499"/>
              <a:ext cx="77885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60 seconds.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96000" y="1714500"/>
            <a:ext cx="2505075" cy="3076575"/>
            <a:chOff x="6096000" y="1714500"/>
            <a:chExt cx="2505075" cy="3076575"/>
          </a:xfrm>
        </p:grpSpPr>
        <p:sp>
          <p:nvSpPr>
            <p:cNvPr id="45" name="Rectangle 45"/>
            <p:cNvSpPr/>
            <p:nvPr/>
          </p:nvSpPr>
          <p:spPr>
            <a:xfrm>
              <a:off x="6096000" y="1714500"/>
              <a:ext cx="2476500" cy="30480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6124575" y="1743075"/>
              <a:ext cx="2476500" cy="3048000"/>
            </a:xfrm>
            <a:prstGeom prst="rect">
              <a:avLst/>
            </a:prstGeom>
            <a:solidFill>
              <a:srgbClr val="E8A02E">
                <a:alpha val="30000"/>
              </a:srgbClr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096000" y="1714500"/>
              <a:ext cx="2476500" cy="30480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267450" y="1933575"/>
              <a:ext cx="25812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03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269355" y="2187892"/>
              <a:ext cx="95240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CONTAGION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269355" y="2378392"/>
              <a:ext cx="82638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CASCADES</a:t>
              </a:r>
            </a:p>
          </p:txBody>
        </p:sp>
        <p:sp>
          <p:nvSpPr>
            <p:cNvPr id="51" name="Line 51"/>
            <p:cNvSpPr/>
            <p:nvPr/>
          </p:nvSpPr>
          <p:spPr>
            <a:xfrm>
              <a:off x="6286500" y="26670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274118" y="2847499"/>
              <a:ext cx="16499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Models Risk A → Effect B →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274118" y="3037999"/>
              <a:ext cx="1792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Effect C propagation chain.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274118" y="3228499"/>
              <a:ext cx="202051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Computes compound correlation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6274118" y="3418999"/>
              <a:ext cx="1649968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(ρ → 1) as baseline market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6274118" y="3609499"/>
              <a:ext cx="139643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chaos index steps up.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274118" y="3799999"/>
              <a:ext cx="171497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Inspired by Kiyotaki-Moore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274118" y="3990499"/>
              <a:ext cx="111040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credit cycles and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274118" y="4180999"/>
              <a:ext cx="136393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Minsky Moment asset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274118" y="4371499"/>
              <a:ext cx="127942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repricing formulas.</a:t>
              </a:r>
            </a:p>
          </p:txBody>
        </p:sp>
      </p:grpSp>
      <p:grpSp>
        <p:nvGrpSpPr>
          <p:cNvPr id="78" name="Group 78"/>
          <p:cNvGrpSpPr/>
          <p:nvPr/>
        </p:nvGrpSpPr>
        <p:grpSpPr>
          <a:xfrm>
            <a:off x="8858250" y="1714500"/>
            <a:ext cx="2505075" cy="3076575"/>
            <a:chOff x="8858250" y="1714500"/>
            <a:chExt cx="2505075" cy="3076575"/>
          </a:xfrm>
        </p:grpSpPr>
        <p:sp>
          <p:nvSpPr>
            <p:cNvPr id="62" name="Rectangle 62"/>
            <p:cNvSpPr/>
            <p:nvPr/>
          </p:nvSpPr>
          <p:spPr>
            <a:xfrm>
              <a:off x="8858250" y="1714500"/>
              <a:ext cx="2476500" cy="3048000"/>
            </a:xfrm>
            <a:prstGeom prst="rect">
              <a:avLst/>
            </a:prstGeom>
            <a:solidFill>
              <a:srgbClr val="F5EFE0"/>
            </a:solidFill>
            <a:ln w="19050">
              <a:solidFill>
                <a:srgbClr val="1A1A1A"/>
              </a:solidFill>
            </a:ln>
          </p:spPr>
        </p:sp>
        <p:sp>
          <p:nvSpPr>
            <p:cNvPr id="63" name="Rectangle 63"/>
            <p:cNvSpPr/>
            <p:nvPr/>
          </p:nvSpPr>
          <p:spPr>
            <a:xfrm>
              <a:off x="8886825" y="1743075"/>
              <a:ext cx="2476500" cy="3048000"/>
            </a:xfrm>
            <a:prstGeom prst="rect">
              <a:avLst/>
            </a:prstGeom>
            <a:solidFill>
              <a:srgbClr val="1E4DBC">
                <a:alpha val="12000"/>
              </a:srgbClr>
            </a:solidFill>
            <a:ln>
              <a:noFill/>
            </a:ln>
          </p:spPr>
        </p:sp>
        <p:sp>
          <p:nvSpPr>
            <p:cNvPr id="64" name="Rectangle 64"/>
            <p:cNvSpPr/>
            <p:nvPr/>
          </p:nvSpPr>
          <p:spPr>
            <a:xfrm>
              <a:off x="8858250" y="1714500"/>
              <a:ext cx="2476500" cy="3048000"/>
            </a:xfrm>
            <a:prstGeom prst="rect">
              <a:avLst/>
            </a:prstGeom>
            <a:noFill/>
            <a:ln w="19050">
              <a:solidFill>
                <a:srgbClr val="1A1A1A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9029700" y="1933575"/>
              <a:ext cx="258128" cy="304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FF5C8A"/>
                  </a:solidFill>
                  <a:latin typeface="Impact"/>
                  <a:ea typeface="Microsoft YaHei"/>
                  <a:cs typeface="Impact"/>
                </a:rPr>
                <a:t>04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9031605" y="2187892"/>
              <a:ext cx="1267444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METHODOLOGY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9031605" y="2378392"/>
              <a:ext cx="1222439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A1A1A"/>
                  </a:solidFill>
                  <a:latin typeface="Impact"/>
                  <a:ea typeface="Microsoft YaHei"/>
                  <a:cs typeface="Impact"/>
                </a:rPr>
                <a:t>TRANSPARENCY</a:t>
              </a:r>
            </a:p>
          </p:txBody>
        </p:sp>
        <p:sp>
          <p:nvSpPr>
            <p:cNvPr id="68" name="Line 68"/>
            <p:cNvSpPr/>
            <p:nvPr/>
          </p:nvSpPr>
          <p:spPr>
            <a:xfrm>
              <a:off x="9048750" y="2667000"/>
              <a:ext cx="2095500" cy="9525"/>
            </a:xfrm>
            <a:custGeom>
              <a:avLst/>
              <a:gdLst/>
              <a:ahLst/>
              <a:cxnLst/>
              <a:rect l="l" t="t" r="r" b="b"/>
              <a:pathLst>
                <a:path w="2095500" h="9525">
                  <a:moveTo>
                    <a:pt x="0" y="0"/>
                  </a:moveTo>
                  <a:lnTo>
                    <a:pt x="2095500" y="0"/>
                  </a:lnTo>
                </a:path>
              </a:pathLst>
            </a:custGeom>
            <a:noFill/>
            <a:ln w="9525">
              <a:solidFill>
                <a:srgbClr val="1A1A1A">
                  <a:alpha val="30000"/>
                </a:srgbClr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9036368" y="2847499"/>
              <a:ext cx="1792986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No proprietary black boxes.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9036368" y="3037999"/>
              <a:ext cx="17994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Every mathematical formula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9036368" y="3228499"/>
              <a:ext cx="1753981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is shown explicitly with the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9036368" y="3418999"/>
              <a:ext cx="192950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actual parameters plugged in.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9036368" y="3609499"/>
              <a:ext cx="1584960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Every routing decision is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9036368" y="3799999"/>
              <a:ext cx="154595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fully flagged, and agent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9036368" y="3990499"/>
              <a:ext cx="1799487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reasoning traces are visible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9036368" y="4180999"/>
              <a:ext cx="1461445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for complete auditable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036368" y="4371499"/>
              <a:ext cx="1038892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reproducibility.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571500" y="4953000"/>
            <a:ext cx="10763250" cy="952500"/>
            <a:chOff x="571500" y="4953000"/>
            <a:chExt cx="10763250" cy="952500"/>
          </a:xfrm>
        </p:grpSpPr>
        <p:sp>
          <p:nvSpPr>
            <p:cNvPr id="79" name="Rectangle 79"/>
            <p:cNvSpPr/>
            <p:nvPr/>
          </p:nvSpPr>
          <p:spPr>
            <a:xfrm>
              <a:off x="571500" y="4953000"/>
              <a:ext cx="10763250" cy="952500"/>
            </a:xfrm>
            <a:prstGeom prst="rect">
              <a:avLst/>
            </a:prstGeom>
            <a:solidFill>
              <a:srgbClr val="EAE2CC"/>
            </a:solidFill>
            <a:ln w="19050">
              <a:solidFill>
                <a:srgbClr val="1A1A1A"/>
              </a:solidFill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796290" y="5144452"/>
              <a:ext cx="242307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⚡ COMPARED TO MARKET STANDARDS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797242" y="5371624"/>
              <a:ext cx="8573333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Standard tools like Bloomberg or MSCI Barra utilize static, historical parameters and require days of manually configured scenarios.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97242" y="5562124"/>
              <a:ext cx="9814989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75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● Aegis Codex uses real-time LLM tribunal debates to instantly generate forward-looking, highly localized, and mathematically transparent stress tests.</a:t>
              </a:r>
            </a:p>
          </p:txBody>
        </p:sp>
      </p:grpSp>
      <p:grpSp>
        <p:nvGrpSpPr>
          <p:cNvPr id="87" name="Group 87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84" name="Line 84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85" name="TextBox 85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86" name="TextBox 86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08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9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44" grpId="0"/>
      <p:bldP spid="61" grpId="0"/>
      <p:bldP spid="78" grpId="0"/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EFE0"/>
          </a:solidFill>
          <a:ln>
            <a:noFill/>
          </a:ln>
        </p:spPr>
        <p:txBody>
          <a:bodyPr/>
          <a:lstStyle/>
          <a:p>
            <a:endParaRPr lang="en-IN" dirty="0"/>
          </a:p>
        </p:txBody>
      </p:sp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476250" y="476250"/>
            <a:ext cx="11239500" cy="5524500"/>
          </a:xfrm>
          <a:prstGeom prst="rect">
            <a:avLst/>
          </a:prstGeom>
          <a:noFill/>
          <a:ln w="38100">
            <a:solidFill>
              <a:srgbClr val="1E4DBC"/>
            </a:solidFill>
          </a:ln>
        </p:spPr>
      </p:sp>
      <p:sp>
        <p:nvSpPr>
          <p:cNvPr id="5" name="Rectangle 5"/>
          <p:cNvSpPr/>
          <p:nvPr/>
        </p:nvSpPr>
        <p:spPr>
          <a:xfrm>
            <a:off x="514350" y="514350"/>
            <a:ext cx="11239500" cy="5524500"/>
          </a:xfrm>
          <a:prstGeom prst="rect">
            <a:avLst/>
          </a:prstGeom>
          <a:noFill/>
          <a:ln w="19050">
            <a:solidFill>
              <a:srgbClr val="FF5C8A">
                <a:alpha val="80000"/>
              </a:srgbClr>
            </a:solidFill>
          </a:ln>
        </p:spPr>
      </p:sp>
      <p:sp>
        <p:nvSpPr>
          <p:cNvPr id="6" name="Rectangle 6"/>
          <p:cNvSpPr/>
          <p:nvPr/>
        </p:nvSpPr>
        <p:spPr>
          <a:xfrm>
            <a:off x="476250" y="476250"/>
            <a:ext cx="11239500" cy="333375"/>
          </a:xfrm>
          <a:prstGeom prst="rect">
            <a:avLst/>
          </a:prstGeom>
          <a:solidFill>
            <a:srgbClr val="1E4DBC"/>
          </a:solidFill>
          <a:ln>
            <a:noFill/>
          </a:ln>
        </p:spPr>
      </p:sp>
      <p:grpSp>
        <p:nvGrpSpPr>
          <p:cNvPr id="11" name="Group 11"/>
          <p:cNvGrpSpPr/>
          <p:nvPr/>
        </p:nvGrpSpPr>
        <p:grpSpPr>
          <a:xfrm>
            <a:off x="5295900" y="1390650"/>
            <a:ext cx="1562100" cy="1562100"/>
            <a:chOff x="5295900" y="1390650"/>
            <a:chExt cx="1562100" cy="1562100"/>
          </a:xfrm>
        </p:grpSpPr>
        <p:sp>
          <p:nvSpPr>
            <p:cNvPr id="8" name="Freeform 8"/>
            <p:cNvSpPr/>
            <p:nvPr/>
          </p:nvSpPr>
          <p:spPr>
            <a:xfrm>
              <a:off x="5334000" y="1428750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4000" h="1524000">
                  <a:moveTo>
                    <a:pt x="190500" y="0"/>
                  </a:moveTo>
                  <a:lnTo>
                    <a:pt x="1333500" y="0"/>
                  </a:lnTo>
                  <a:lnTo>
                    <a:pt x="1524000" y="571500"/>
                  </a:lnTo>
                  <a:lnTo>
                    <a:pt x="762000" y="15240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FF5C8A"/>
            </a:solidFill>
            <a:ln>
              <a:noFill/>
            </a:ln>
          </p:spPr>
        </p:sp>
        <p:sp>
          <p:nvSpPr>
            <p:cNvPr id="9" name="Freeform 9"/>
            <p:cNvSpPr/>
            <p:nvPr/>
          </p:nvSpPr>
          <p:spPr>
            <a:xfrm>
              <a:off x="5295900" y="1390650"/>
              <a:ext cx="1524000" cy="1524000"/>
            </a:xfrm>
            <a:custGeom>
              <a:avLst/>
              <a:gdLst/>
              <a:ahLst/>
              <a:cxnLst/>
              <a:rect l="l" t="t" r="r" b="b"/>
              <a:pathLst>
                <a:path w="1524000" h="1524000">
                  <a:moveTo>
                    <a:pt x="190500" y="0"/>
                  </a:moveTo>
                  <a:lnTo>
                    <a:pt x="1333500" y="0"/>
                  </a:lnTo>
                  <a:lnTo>
                    <a:pt x="1524000" y="571500"/>
                  </a:lnTo>
                  <a:lnTo>
                    <a:pt x="762000" y="1524000"/>
                  </a:lnTo>
                  <a:lnTo>
                    <a:pt x="0" y="571500"/>
                  </a:lnTo>
                  <a:close/>
                </a:path>
              </a:pathLst>
            </a:custGeom>
            <a:solidFill>
              <a:srgbClr val="1E4DBC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5810250" y="1952625"/>
              <a:ext cx="571500" cy="381000"/>
            </a:xfrm>
            <a:custGeom>
              <a:avLst/>
              <a:gdLst/>
              <a:ahLst/>
              <a:cxnLst/>
              <a:rect l="l" t="t" r="r" b="b"/>
              <a:pathLst>
                <a:path w="571500" h="381000">
                  <a:moveTo>
                    <a:pt x="0" y="142875"/>
                  </a:moveTo>
                  <a:lnTo>
                    <a:pt x="190500" y="381000"/>
                  </a:lnTo>
                  <a:lnTo>
                    <a:pt x="571500" y="0"/>
                  </a:lnTo>
                </a:path>
              </a:pathLst>
            </a:custGeom>
            <a:noFill/>
            <a:ln w="76200" cap="rnd">
              <a:solidFill>
                <a:srgbClr val="F5EFE0"/>
              </a:solidFill>
              <a:round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2868549" y="3107769"/>
            <a:ext cx="7202764" cy="999768"/>
            <a:chOff x="2694908" y="3202305"/>
            <a:chExt cx="7202764" cy="999768"/>
          </a:xfrm>
        </p:grpSpPr>
        <p:sp>
          <p:nvSpPr>
            <p:cNvPr id="12" name="TextBox 12"/>
            <p:cNvSpPr txBox="1"/>
            <p:nvPr/>
          </p:nvSpPr>
          <p:spPr>
            <a:xfrm>
              <a:off x="2694908" y="3202305"/>
              <a:ext cx="6802183" cy="426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210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"THE NEXT CRISIS WON'T LOOK LIKE THE LAST ONE."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78197" y="3728085"/>
              <a:ext cx="5835606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Aegis Codex doesn't predict which domino falls — it maps every domino,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978331" y="3958233"/>
              <a:ext cx="6919341" cy="2438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1A1A"/>
                  </a:solidFill>
                  <a:latin typeface="Arial"/>
                  <a:ea typeface="Microsoft YaHei"/>
                  <a:cs typeface="Arial"/>
                </a:rPr>
                <a:t>debates which are unstable, and calculates what happens when they all fall at once.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3714750" y="4619625"/>
            <a:ext cx="4800600" cy="895350"/>
            <a:chOff x="3714750" y="4619625"/>
            <a:chExt cx="4800600" cy="895350"/>
          </a:xfrm>
        </p:grpSpPr>
        <p:sp>
          <p:nvSpPr>
            <p:cNvPr id="16" name="Rectangle 16"/>
            <p:cNvSpPr/>
            <p:nvPr/>
          </p:nvSpPr>
          <p:spPr>
            <a:xfrm>
              <a:off x="3714750" y="4619625"/>
              <a:ext cx="4762500" cy="85725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3752850" y="4657725"/>
              <a:ext cx="4762500" cy="857250"/>
            </a:xfrm>
            <a:prstGeom prst="rect">
              <a:avLst/>
            </a:prstGeom>
            <a:solidFill>
              <a:srgbClr val="1E4DBC">
                <a:alpha val="60000"/>
              </a:srgbClr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3714750" y="4619625"/>
              <a:ext cx="4762500" cy="857250"/>
            </a:xfrm>
            <a:prstGeom prst="rect">
              <a:avLst/>
            </a:prstGeom>
            <a:solidFill>
              <a:srgbClr val="FF5C8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4848392" y="4774882"/>
              <a:ext cx="2495217" cy="3352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650" dirty="0">
                  <a:solidFill>
                    <a:srgbClr val="1E4DBC"/>
                  </a:solidFill>
                  <a:latin typeface="Impact"/>
                  <a:ea typeface="Microsoft YaHei"/>
                  <a:cs typeface="Impact"/>
                </a:rPr>
                <a:t>MOOSA TALHA AL KASERI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68278" y="5085874"/>
              <a:ext cx="3055444" cy="198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75" b="1" dirty="0">
                  <a:solidFill>
                    <a:srgbClr val="1A1A1A"/>
                  </a:solidFill>
                  <a:latin typeface="Consolas"/>
                  <a:ea typeface="Microsoft YaHei"/>
                  <a:cs typeface="Consolas"/>
                </a:rPr>
                <a:t>IIM Kozhikode · Batch 29 | Aegis Platform Lead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303661" y="5242738"/>
              <a:ext cx="3446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>
              <a:spAutoFit/>
            </a:bodyPr>
            <a:lstStyle/>
            <a:p>
              <a:pPr algn="ctr"/>
              <a:r>
                <a:rPr lang="zh-CN" sz="1200" dirty="0">
                  <a:solidFill>
                    <a:srgbClr val="1E4DBC"/>
                  </a:solidFill>
                  <a:latin typeface="Consolas"/>
                  <a:ea typeface="Microsoft YaHei"/>
                  <a:cs typeface="Consolas"/>
                </a:rPr>
                <a:t>github.com/mugichan-5627/Aegis_Codex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61022" y="6572250"/>
            <a:ext cx="11069956" cy="250031"/>
            <a:chOff x="561022" y="6572250"/>
            <a:chExt cx="11069956" cy="250031"/>
          </a:xfrm>
        </p:grpSpPr>
        <p:sp>
          <p:nvSpPr>
            <p:cNvPr id="23" name="Line 23"/>
            <p:cNvSpPr/>
            <p:nvPr/>
          </p:nvSpPr>
          <p:spPr>
            <a:xfrm>
              <a:off x="571500" y="6572250"/>
              <a:ext cx="11049000" cy="9525"/>
            </a:xfrm>
            <a:custGeom>
              <a:avLst/>
              <a:gdLst/>
              <a:ahLst/>
              <a:cxnLst/>
              <a:rect l="l" t="t" r="r" b="b"/>
              <a:pathLst>
                <a:path w="11049000" h="9525">
                  <a:moveTo>
                    <a:pt x="0" y="0"/>
                  </a:moveTo>
                  <a:lnTo>
                    <a:pt x="11049000" y="0"/>
                  </a:lnTo>
                </a:path>
              </a:pathLst>
            </a:custGeom>
            <a:noFill/>
            <a:ln w="9525">
              <a:solidFill>
                <a:srgbClr val="1A1A1A"/>
              </a:solidFill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561022" y="6654641"/>
              <a:ext cx="2259735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AEGIS CODEX — PROPRIETARY &amp; CONFIDENTIAL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933438" y="6654641"/>
              <a:ext cx="697540" cy="1676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825" dirty="0">
                  <a:solidFill>
                    <a:srgbClr val="5A5A5A"/>
                  </a:solidFill>
                  <a:latin typeface="Consolas"/>
                  <a:ea typeface="Microsoft YaHei"/>
                  <a:cs typeface="Consolas"/>
                </a:rPr>
                <a:t>SLIDE 09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5" grpId="0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7749</Words>
  <Application>Microsoft Office PowerPoint</Application>
  <PresentationFormat>Widescreen</PresentationFormat>
  <Paragraphs>295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Consolas</vt:lpstr>
      <vt:lpstr>Impact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Moosa Al Kaseri</cp:lastModifiedBy>
  <cp:revision>2</cp:revision>
  <dcterms:created xsi:type="dcterms:W3CDTF">2013-01-27T09:14:16Z</dcterms:created>
  <dcterms:modified xsi:type="dcterms:W3CDTF">2026-06-01T18:43:11Z</dcterms:modified>
  <cp:category/>
</cp:coreProperties>
</file>