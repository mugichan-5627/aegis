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5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0287000" y="0"/>
            <a:ext cx="1933575" cy="409575"/>
            <a:chOff x="10287000" y="0"/>
            <a:chExt cx="1933575" cy="409575"/>
          </a:xfrm>
        </p:grpSpPr>
        <p:sp>
          <p:nvSpPr>
            <p:cNvPr id="4" name="Polygon 4"/>
            <p:cNvSpPr/>
            <p:nvPr/>
          </p:nvSpPr>
          <p:spPr>
            <a:xfrm>
              <a:off x="10287000" y="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1905000" y="0"/>
                  </a:moveTo>
                  <a:lnTo>
                    <a:pt x="1905000" y="381000"/>
                  </a:lnTo>
                  <a:lnTo>
                    <a:pt x="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5C8A"/>
            </a:solidFill>
            <a:ln>
              <a:noFill/>
            </a:ln>
          </p:spPr>
        </p:sp>
        <p:sp>
          <p:nvSpPr>
            <p:cNvPr id="5" name="Polygon 5"/>
            <p:cNvSpPr/>
            <p:nvPr/>
          </p:nvSpPr>
          <p:spPr>
            <a:xfrm>
              <a:off x="10315575" y="28575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1905000" y="0"/>
                  </a:moveTo>
                  <a:lnTo>
                    <a:pt x="1905000" y="381000"/>
                  </a:lnTo>
                  <a:lnTo>
                    <a:pt x="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1E4DBC">
                <a:alpha val="55000"/>
              </a:srgbClr>
            </a:solidFill>
            <a:ln>
              <a:noFill/>
            </a:ln>
          </p:spPr>
        </p:sp>
      </p:grpSp>
      <p:sp>
        <p:nvSpPr>
          <p:cNvPr id="7" name="Rectangle 7"/>
          <p:cNvSpPr/>
          <p:nvPr/>
        </p:nvSpPr>
        <p:spPr>
          <a:xfrm>
            <a:off x="571500" y="476250"/>
            <a:ext cx="11049000" cy="5524500"/>
          </a:xfrm>
          <a:prstGeom prst="rect">
            <a:avLst/>
          </a:prstGeom>
          <a:noFill/>
          <a:ln w="57150">
            <a:solidFill>
              <a:srgbClr val="1E4DB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00075" y="504825"/>
            <a:ext cx="11049000" cy="5524500"/>
          </a:xfrm>
          <a:prstGeom prst="rect">
            <a:avLst/>
          </a:prstGeom>
          <a:noFill/>
          <a:ln w="57150">
            <a:solidFill>
              <a:srgbClr val="FF5C8A">
                <a:alpha val="75000"/>
              </a:srgbClr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857250" y="762000"/>
            <a:ext cx="3524250" cy="304800"/>
            <a:chOff x="857250" y="762000"/>
            <a:chExt cx="3524250" cy="304800"/>
          </a:xfrm>
        </p:grpSpPr>
        <p:sp>
          <p:nvSpPr>
            <p:cNvPr id="9" name="Rectangle 9"/>
            <p:cNvSpPr/>
            <p:nvPr/>
          </p:nvSpPr>
          <p:spPr>
            <a:xfrm>
              <a:off x="857250" y="762000"/>
              <a:ext cx="2095500" cy="3048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7322" y="864870"/>
              <a:ext cx="1795364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IN" altLang="zh-CN" sz="900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DEVPOST HACKATHON SUBMISSION</a:t>
              </a:r>
              <a:endParaRPr lang="zh-CN" sz="900" b="1" dirty="0">
                <a:solidFill>
                  <a:srgbClr val="F5EFE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48000" y="762000"/>
              <a:ext cx="1333500" cy="3048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259114" y="864870"/>
              <a:ext cx="9112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SWARM: ACTIVE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52475" y="1776412"/>
            <a:ext cx="6573441" cy="1714500"/>
            <a:chOff x="752475" y="1776412"/>
            <a:chExt cx="6573441" cy="1714500"/>
          </a:xfrm>
        </p:grpSpPr>
        <p:sp>
          <p:nvSpPr>
            <p:cNvPr id="14" name="TextBox 14"/>
            <p:cNvSpPr txBox="1"/>
            <p:nvPr/>
          </p:nvSpPr>
          <p:spPr>
            <a:xfrm>
              <a:off x="790575" y="1814512"/>
              <a:ext cx="6535341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AEGIS CODEX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475" y="1776412"/>
              <a:ext cx="6535341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AEGIS CODEX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6295" y="3012758"/>
            <a:ext cx="6360550" cy="563880"/>
            <a:chOff x="836295" y="3012758"/>
            <a:chExt cx="6360550" cy="563880"/>
          </a:xfrm>
        </p:grpSpPr>
        <p:sp>
          <p:nvSpPr>
            <p:cNvPr id="17" name="TextBox 17"/>
            <p:cNvSpPr txBox="1"/>
            <p:nvPr/>
          </p:nvSpPr>
          <p:spPr>
            <a:xfrm>
              <a:off x="836295" y="3012758"/>
              <a:ext cx="63605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AUTONOMOUS GEOPOLITICAL &amp; FINANCIAL RISK INTELLIGENCE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3363278"/>
              <a:ext cx="2609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5C8A"/>
                  </a:solidFill>
                  <a:latin typeface="Consolas"/>
                  <a:ea typeface="Microsoft YaHei"/>
                  <a:cs typeface="Consolas"/>
                </a:rPr>
                <a:t>DOOMSDAY RAPID AGENT PLATFORM v2.0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7250" y="4000500"/>
            <a:ext cx="7458075" cy="1076325"/>
            <a:chOff x="857250" y="4000500"/>
            <a:chExt cx="7458075" cy="1076325"/>
          </a:xfrm>
        </p:grpSpPr>
        <p:sp>
          <p:nvSpPr>
            <p:cNvPr id="20" name="Rectangle 20"/>
            <p:cNvSpPr/>
            <p:nvPr/>
          </p:nvSpPr>
          <p:spPr>
            <a:xfrm>
              <a:off x="857250" y="4000500"/>
              <a:ext cx="2286000" cy="104775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85825" y="4029075"/>
              <a:ext cx="2286000" cy="1047750"/>
            </a:xfrm>
            <a:prstGeom prst="rect">
              <a:avLst/>
            </a:prstGeom>
            <a:solidFill>
              <a:srgbClr val="FF5C8A">
                <a:alpha val="4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7250" y="4000500"/>
              <a:ext cx="2286000" cy="104775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2030" y="4088130"/>
              <a:ext cx="35547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5368" y="4704874"/>
              <a:ext cx="15196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COORDINATED AI AGENTS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29000" y="4000500"/>
              <a:ext cx="2286000" cy="104775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457575" y="4029075"/>
              <a:ext cx="2286000" cy="1047750"/>
            </a:xfrm>
            <a:prstGeom prst="rect">
              <a:avLst/>
            </a:prstGeom>
            <a:solidFill>
              <a:srgbClr val="1E4DBC">
                <a:alpha val="20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429000" y="4000500"/>
              <a:ext cx="2286000" cy="104775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73780" y="4088130"/>
              <a:ext cx="35547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07118" y="4704874"/>
              <a:ext cx="17107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PARALLEL SEARCH VECTORS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00750" y="4000500"/>
              <a:ext cx="2286000" cy="104775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29325" y="4029075"/>
              <a:ext cx="2286000" cy="1047750"/>
            </a:xfrm>
            <a:prstGeom prst="rect">
              <a:avLst/>
            </a:prstGeom>
            <a:solidFill>
              <a:srgbClr val="FF5C8A">
                <a:alpha val="20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00750" y="4000500"/>
              <a:ext cx="2286000" cy="104775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45530" y="4088130"/>
              <a:ext cx="129159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&lt; 60s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78868" y="4704874"/>
              <a:ext cx="11510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ANALYSIS RUNTIME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572500" y="4000500"/>
            <a:ext cx="2790825" cy="1076325"/>
            <a:chOff x="8572500" y="4000500"/>
            <a:chExt cx="2790825" cy="1076325"/>
          </a:xfrm>
        </p:grpSpPr>
        <p:sp>
          <p:nvSpPr>
            <p:cNvPr id="36" name="Rectangle 36"/>
            <p:cNvSpPr/>
            <p:nvPr/>
          </p:nvSpPr>
          <p:spPr>
            <a:xfrm>
              <a:off x="8572500" y="4000500"/>
              <a:ext cx="2762250" cy="104775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601075" y="4029075"/>
              <a:ext cx="2762250" cy="1047750"/>
            </a:xfrm>
            <a:prstGeom prst="rect">
              <a:avLst/>
            </a:prstGeom>
            <a:solidFill>
              <a:srgbClr val="FF5C8A">
                <a:alpha val="60000"/>
              </a:srgbClr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572500" y="4000500"/>
              <a:ext cx="2762250" cy="104775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99195" y="4236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"Every portfolio has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99195" y="4427220"/>
              <a:ext cx="1217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a breaking point. We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99195" y="4617720"/>
              <a:ext cx="898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find it in 60s."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57250" y="5334000"/>
            <a:ext cx="10477500" cy="400050"/>
            <a:chOff x="857250" y="5334000"/>
            <a:chExt cx="10477500" cy="400050"/>
          </a:xfrm>
        </p:grpSpPr>
        <p:sp>
          <p:nvSpPr>
            <p:cNvPr id="43" name="Rectangle 43"/>
            <p:cNvSpPr/>
            <p:nvPr/>
          </p:nvSpPr>
          <p:spPr>
            <a:xfrm>
              <a:off x="857250" y="5334000"/>
              <a:ext cx="10477500" cy="40005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415" y="5468302"/>
              <a:ext cx="53634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TEAM: AEGIS | PRESENTER: MOOSA TALHA AL KASERI | IIM KOZHIKODE | BATCH 29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9118" y="6334125"/>
            <a:ext cx="11073765" cy="350044"/>
            <a:chOff x="559118" y="6334125"/>
            <a:chExt cx="11073765" cy="350044"/>
          </a:xfrm>
        </p:grpSpPr>
        <p:sp>
          <p:nvSpPr>
            <p:cNvPr id="46" name="Line 46"/>
            <p:cNvSpPr/>
            <p:nvPr/>
          </p:nvSpPr>
          <p:spPr>
            <a:xfrm>
              <a:off x="571500" y="6334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9118" y="6486049"/>
              <a:ext cx="31256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BUILT WITH: GEMINI 2.0 FLASH + NVIDIA NIM + TAVILY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41022" y="6486049"/>
              <a:ext cx="791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SLIDE 01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9" grpId="0"/>
      <p:bldP spid="35" grpId="0"/>
      <p:bldP spid="42" grpId="0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10671810" cy="785812"/>
            <a:chOff x="571500" y="533400"/>
            <a:chExt cx="10671810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1041273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THE PROBLEM / BLIND SPOTS KILL PORTFOLIOS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29390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01 · TAIL RISK BLINDSPOTS &amp; SILOED ANALYSIS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571500" y="1714500"/>
            <a:ext cx="5895403" cy="3548062"/>
            <a:chOff x="571500" y="1714500"/>
            <a:chExt cx="5895403" cy="3548062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714500"/>
              <a:ext cx="5895403" cy="1071562"/>
              <a:chOff x="571500" y="1714500"/>
              <a:chExt cx="5895403" cy="1071562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714500"/>
                <a:ext cx="381000" cy="381000"/>
              </a:xfrm>
              <a:prstGeom prst="rect">
                <a:avLst/>
              </a:prstGeom>
              <a:solidFill>
                <a:srgbClr val="1E4DBC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64520" y="1816418"/>
                <a:ext cx="1949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5EFE0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83945" y="1803082"/>
                <a:ext cx="311129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E4DBC"/>
                    </a:solidFill>
                    <a:latin typeface="Impact"/>
                    <a:ea typeface="Microsoft YaHei"/>
                    <a:cs typeface="Impact"/>
                  </a:rPr>
                  <a:t>NORMAL DISTRIBUTION FAILURE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91565" y="2153602"/>
                <a:ext cx="53753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Traditional models assume Gaussian normal distribution returns. They collapse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91565" y="2363152"/>
                <a:ext cx="53753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precisely when tail risk materializes. 2008, COVID, and SVB were not outliers—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91565" y="2572702"/>
                <a:ext cx="238596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they were fatal model blind spots.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2952750"/>
              <a:ext cx="5643372" cy="1071562"/>
              <a:chOff x="571500" y="2952750"/>
              <a:chExt cx="5643372" cy="1071562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71500" y="2952750"/>
                <a:ext cx="381000" cy="381000"/>
              </a:xfrm>
              <a:prstGeom prst="rect">
                <a:avLst/>
              </a:prstGeom>
              <a:solidFill>
                <a:srgbClr val="FF5C8A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40892" y="30546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83945" y="3041332"/>
                <a:ext cx="283625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E4DBC"/>
                    </a:solidFill>
                    <a:latin typeface="Impact"/>
                    <a:ea typeface="Microsoft YaHei"/>
                    <a:cs typeface="Impact"/>
                  </a:rPr>
                  <a:t>SILOED RISK IDENTIFICATION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91565" y="3391852"/>
                <a:ext cx="51233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Analysts identify risk factors in isolation, missing second-order cascades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91565" y="3601402"/>
                <a:ext cx="478726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and geographic convergence. Risk A triggering Risk B triggering Risk C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91565" y="3810952"/>
                <a:ext cx="29880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remains entirely invisible to current tools.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571500" y="4191000"/>
              <a:ext cx="5797391" cy="1071562"/>
              <a:chOff x="571500" y="4191000"/>
              <a:chExt cx="5797391" cy="1071562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71500" y="4191000"/>
                <a:ext cx="381000" cy="38100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40892" y="42929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5EFE0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83945" y="4279582"/>
                <a:ext cx="178012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E4DBC"/>
                    </a:solidFill>
                    <a:latin typeface="Impact"/>
                    <a:ea typeface="Microsoft YaHei"/>
                    <a:cs typeface="Impact"/>
                  </a:rPr>
                  <a:t>THE TOOLING GAP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91565" y="4630102"/>
                <a:ext cx="52773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Existing tools are either too simplistic (flat percentage haircuts), too slow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91565" y="4839652"/>
                <a:ext cx="51373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(requiring weeks of manual scenario modelling), or operate as proprietary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91565" y="5049202"/>
                <a:ext cx="34220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black boxes with zero methodology transparency.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7239000" y="1714500"/>
            <a:ext cx="6258449" cy="4286250"/>
            <a:chOff x="7239000" y="1714500"/>
            <a:chExt cx="6258449" cy="4286250"/>
          </a:xfrm>
        </p:grpSpPr>
        <p:sp>
          <p:nvSpPr>
            <p:cNvPr id="33" name="Rectangle 33"/>
            <p:cNvSpPr/>
            <p:nvPr/>
          </p:nvSpPr>
          <p:spPr>
            <a:xfrm>
              <a:off x="7239000" y="1714500"/>
              <a:ext cx="4381500" cy="22860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77100" y="1752600"/>
              <a:ext cx="4381500" cy="2286000"/>
            </a:xfrm>
            <a:prstGeom prst="rect">
              <a:avLst/>
            </a:prstGeom>
            <a:solidFill>
              <a:srgbClr val="1E4DBC">
                <a:alpha val="60000"/>
              </a:srgbClr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239000" y="1714500"/>
              <a:ext cx="4381500" cy="22860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33310" y="1794510"/>
              <a:ext cx="1767078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93%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03795" y="2869882"/>
              <a:ext cx="59936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OF INSTITUTIONAL INVESTORS CITE TAIL RISK AS #1 CONCERN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0462" y="3307556"/>
              <a:ext cx="38878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YET ONLY 12% HAVE SYSTEMATIC TOOLS TO MODEL IT.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3320" y="3617595"/>
              <a:ext cx="2189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— GLOBAL PORTFOLIO TAIL RISK SURVEY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239000" y="4286250"/>
              <a:ext cx="4381500" cy="171450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05700" y="4505325"/>
              <a:ext cx="25984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THE SYSTEMIC OPPORTUNITY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12368" y="4847749"/>
              <a:ext cx="37822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No tool identifies specific Black Swan risks, validates them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12368" y="5057299"/>
              <a:ext cx="39772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adversarially, maps geographic propagation, models contagion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12368" y="5266849"/>
              <a:ext cx="39772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cascades, and computes distressed valuations transparently.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12368" y="5562124"/>
              <a:ext cx="2932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5C8A"/>
                  </a:solidFill>
                  <a:latin typeface="Consolas"/>
                  <a:ea typeface="Microsoft YaHei"/>
                  <a:cs typeface="Consolas"/>
                </a:rPr>
                <a:t>&gt; AEGIS CODEX RUNS THIS IN UNDER 60 SECONDS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47" name="Line 47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1022" y="6654641"/>
              <a:ext cx="18691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PROJECT DOOMSDAY — CONFIDENTIAL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02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9135618" cy="785812"/>
            <a:chOff x="571500" y="533400"/>
            <a:chExt cx="9135618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887653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PROPOSED SOLUTION / 7-STEP PIPELINE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35831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02 · HOW IT WORKS: END-TO-END AUTONOMOUS ENGINE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619250"/>
            <a:ext cx="5048250" cy="333375"/>
          </a:xfrm>
          <a:prstGeom prst="rect">
            <a:avLst/>
          </a:prstGeom>
          <a:solidFill>
            <a:srgbClr val="1E4DB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01040" y="1724978"/>
            <a:ext cx="2276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EFE0"/>
                </a:solidFill>
                <a:latin typeface="Consolas"/>
                <a:ea typeface="Microsoft YaHei"/>
                <a:cs typeface="Consolas"/>
              </a:rPr>
              <a:t>PHASE 1: INTELLIGENCE GATHERING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2095500"/>
            <a:ext cx="2409825" cy="981075"/>
            <a:chOff x="571500" y="2095500"/>
            <a:chExt cx="2409825" cy="981075"/>
          </a:xfrm>
        </p:grpSpPr>
        <p:sp>
          <p:nvSpPr>
            <p:cNvPr id="13" name="Rectangle 13"/>
            <p:cNvSpPr/>
            <p:nvPr/>
          </p:nvSpPr>
          <p:spPr>
            <a:xfrm>
              <a:off x="571500" y="2095500"/>
              <a:ext cx="2381250" cy="952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0075" y="2124075"/>
              <a:ext cx="2381250" cy="952500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2095500"/>
              <a:ext cx="2381250" cy="952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7705" y="2202180"/>
              <a:ext cx="2913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2510" y="22707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USER INPUT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1992" y="2609374"/>
              <a:ext cx="1688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Ticker entry or CSV upload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1992" y="2771299"/>
              <a:ext cx="1708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with weight + Chaos (0-1).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238500" y="2095500"/>
            <a:ext cx="2409825" cy="981075"/>
            <a:chOff x="3238500" y="2095500"/>
            <a:chExt cx="2409825" cy="981075"/>
          </a:xfrm>
        </p:grpSpPr>
        <p:sp>
          <p:nvSpPr>
            <p:cNvPr id="21" name="Rectangle 21"/>
            <p:cNvSpPr/>
            <p:nvPr/>
          </p:nvSpPr>
          <p:spPr>
            <a:xfrm>
              <a:off x="3238500" y="2095500"/>
              <a:ext cx="2381250" cy="952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267075" y="2124075"/>
              <a:ext cx="2381250" cy="952500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38500" y="2095500"/>
              <a:ext cx="2381250" cy="952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54705" y="2202180"/>
              <a:ext cx="3613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99510" y="2270760"/>
              <a:ext cx="10226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WORLD STATE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68992" y="2609374"/>
              <a:ext cx="1825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Live metrics: VIX, Oil, Gold,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68992" y="2771299"/>
              <a:ext cx="16629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Yields → Global Fear Class.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238500"/>
            <a:ext cx="2409825" cy="981075"/>
            <a:chOff x="571500" y="3238500"/>
            <a:chExt cx="2409825" cy="981075"/>
          </a:xfrm>
        </p:grpSpPr>
        <p:sp>
          <p:nvSpPr>
            <p:cNvPr id="29" name="Rectangle 29"/>
            <p:cNvSpPr/>
            <p:nvPr/>
          </p:nvSpPr>
          <p:spPr>
            <a:xfrm>
              <a:off x="571500" y="3238500"/>
              <a:ext cx="2381250" cy="952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0075" y="3267075"/>
              <a:ext cx="2381250" cy="952500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3238500"/>
              <a:ext cx="2381250" cy="952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7705" y="3345180"/>
              <a:ext cx="3613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2510" y="3413760"/>
              <a:ext cx="13666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COMPANY PROFILE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1992" y="3752374"/>
              <a:ext cx="21505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Smart ticker resolve via yfinance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1992" y="3914299"/>
              <a:ext cx="1786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and Auto USD normalisation.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238500" y="3238500"/>
            <a:ext cx="2409825" cy="981075"/>
            <a:chOff x="3238500" y="3238500"/>
            <a:chExt cx="2409825" cy="981075"/>
          </a:xfrm>
        </p:grpSpPr>
        <p:sp>
          <p:nvSpPr>
            <p:cNvPr id="37" name="Rectangle 37"/>
            <p:cNvSpPr/>
            <p:nvPr/>
          </p:nvSpPr>
          <p:spPr>
            <a:xfrm>
              <a:off x="3238500" y="3238500"/>
              <a:ext cx="2381250" cy="952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267075" y="3267075"/>
              <a:ext cx="2381250" cy="952500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238500" y="3238500"/>
              <a:ext cx="2381250" cy="952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54705" y="3345180"/>
              <a:ext cx="3613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99510" y="3413760"/>
              <a:ext cx="1406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INTELLIGENCE SCAN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68992" y="3752374"/>
              <a:ext cx="16629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6 parallel Tavily vectors 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68992" y="3914299"/>
              <a:ext cx="1753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Gemini synthesises 6 risks.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6191250" y="1619250"/>
            <a:ext cx="5429250" cy="333375"/>
          </a:xfrm>
          <a:prstGeom prst="rect">
            <a:avLst/>
          </a:prstGeom>
          <a:solidFill>
            <a:srgbClr val="FF5C8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320790" y="1724978"/>
            <a:ext cx="21804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Consolas"/>
                <a:ea typeface="Microsoft YaHei"/>
                <a:cs typeface="Consolas"/>
              </a:rPr>
              <a:t>PHASE 2: ANALYSIS &amp; VALUATION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6191250" y="2095500"/>
            <a:ext cx="5457825" cy="838200"/>
            <a:chOff x="6191250" y="2095500"/>
            <a:chExt cx="5457825" cy="838200"/>
          </a:xfrm>
        </p:grpSpPr>
        <p:sp>
          <p:nvSpPr>
            <p:cNvPr id="47" name="Rectangle 47"/>
            <p:cNvSpPr/>
            <p:nvPr/>
          </p:nvSpPr>
          <p:spPr>
            <a:xfrm>
              <a:off x="6191250" y="2095500"/>
              <a:ext cx="5429250" cy="809625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19825" y="2124075"/>
              <a:ext cx="5429250" cy="809625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191250" y="2095500"/>
              <a:ext cx="5429250" cy="809625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7460" y="2165985"/>
              <a:ext cx="4646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05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93230" y="2254568"/>
              <a:ext cx="25276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ADVERSARIAL TRIBUNAL DEBATE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97040" y="2534602"/>
              <a:ext cx="45422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Adversarial Bear (Prosecution) ⟷ Bull (Defence) ⟷ Judge (Verdict)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97040" y="2706052"/>
              <a:ext cx="42201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runs a 3-agent debate per risk to prevent confirmation bias.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191250" y="3048000"/>
            <a:ext cx="5457825" cy="838200"/>
            <a:chOff x="6191250" y="3048000"/>
            <a:chExt cx="5457825" cy="838200"/>
          </a:xfrm>
        </p:grpSpPr>
        <p:sp>
          <p:nvSpPr>
            <p:cNvPr id="55" name="Rectangle 55"/>
            <p:cNvSpPr/>
            <p:nvPr/>
          </p:nvSpPr>
          <p:spPr>
            <a:xfrm>
              <a:off x="6191250" y="3048000"/>
              <a:ext cx="5429250" cy="809625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19825" y="3076575"/>
              <a:ext cx="5429250" cy="809625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191250" y="3048000"/>
              <a:ext cx="5429250" cy="809625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7460" y="3118485"/>
              <a:ext cx="4646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06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93230" y="3207068"/>
              <a:ext cx="26356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GEOGRAPHIC EXPOSURE MAPPING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97040" y="3487102"/>
              <a:ext cx="47242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Fracture nodes + curved convergence vectors plotted on interactive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97040" y="3658552"/>
              <a:ext cx="43532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Plotly threat globe, pinpointing hot-spots in under 60 seconds.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191250" y="4000500"/>
            <a:ext cx="5603081" cy="838200"/>
            <a:chOff x="6191250" y="4000500"/>
            <a:chExt cx="5603081" cy="838200"/>
          </a:xfrm>
        </p:grpSpPr>
        <p:sp>
          <p:nvSpPr>
            <p:cNvPr id="63" name="Rectangle 63"/>
            <p:cNvSpPr/>
            <p:nvPr/>
          </p:nvSpPr>
          <p:spPr>
            <a:xfrm>
              <a:off x="6191250" y="4000500"/>
              <a:ext cx="5429250" cy="809625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19825" y="4029075"/>
              <a:ext cx="5429250" cy="809625"/>
            </a:xfrm>
            <a:prstGeom prst="rect">
              <a:avLst/>
            </a:prstGeom>
            <a:solidFill>
              <a:srgbClr val="EAE2CC">
                <a:alpha val="50000"/>
              </a:srgbClr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191250" y="4000500"/>
              <a:ext cx="5429250" cy="809625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7460" y="4070985"/>
              <a:ext cx="4646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07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93230" y="4159568"/>
              <a:ext cx="28516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VALUATION CASCADE &amp; HUMAN GATE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797040" y="4439602"/>
              <a:ext cx="49972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Stressed valuation matrix (5 distinct paths). Traces credit/refinancing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97040" y="4611052"/>
              <a:ext cx="46262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contagion before prompting User Gate (Approve, Soften, Dismiss).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000625"/>
            <a:ext cx="11049000" cy="952500"/>
            <a:chOff x="571500" y="5000625"/>
            <a:chExt cx="11049000" cy="952500"/>
          </a:xfrm>
        </p:grpSpPr>
        <p:sp>
          <p:nvSpPr>
            <p:cNvPr id="71" name="Rectangle 71"/>
            <p:cNvSpPr/>
            <p:nvPr/>
          </p:nvSpPr>
          <p:spPr>
            <a:xfrm>
              <a:off x="571500" y="5000625"/>
              <a:ext cx="11049000" cy="95250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76288" y="5176838"/>
              <a:ext cx="200025" cy="200025"/>
              <a:chOff x="776288" y="5176838"/>
              <a:chExt cx="200025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76288" y="5176838"/>
                <a:ext cx="200025" cy="12521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25215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85725"/>
                    </a:lnTo>
                    <a:lnTo>
                      <a:pt x="34032" y="85725"/>
                    </a:lnTo>
                    <a:lnTo>
                      <a:pt x="55464" y="42862"/>
                    </a:lnTo>
                    <a:lnTo>
                      <a:pt x="87411" y="42862"/>
                    </a:lnTo>
                    <a:lnTo>
                      <a:pt x="128588" y="125215"/>
                    </a:lnTo>
                    <a:lnTo>
                      <a:pt x="148333" y="85725"/>
                    </a:lnTo>
                    <a:lnTo>
                      <a:pt x="200025" y="85725"/>
                    </a:lnTo>
                    <a:lnTo>
                      <a:pt x="200025" y="0"/>
                    </a:lnTo>
                    <a:close/>
                  </a:path>
                </a:pathLst>
              </a:custGeom>
              <a:solidFill>
                <a:srgbClr val="1E4DBC"/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76288" y="5251648"/>
                <a:ext cx="200025" cy="12521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25215">
                    <a:moveTo>
                      <a:pt x="200025" y="39490"/>
                    </a:moveTo>
                    <a:lnTo>
                      <a:pt x="165992" y="39490"/>
                    </a:lnTo>
                    <a:lnTo>
                      <a:pt x="144561" y="82352"/>
                    </a:lnTo>
                    <a:lnTo>
                      <a:pt x="112614" y="82352"/>
                    </a:lnTo>
                    <a:lnTo>
                      <a:pt x="71438" y="0"/>
                    </a:lnTo>
                    <a:lnTo>
                      <a:pt x="51693" y="39490"/>
                    </a:lnTo>
                    <a:lnTo>
                      <a:pt x="0" y="39490"/>
                    </a:lnTo>
                    <a:lnTo>
                      <a:pt x="0" y="125215"/>
                    </a:lnTo>
                    <a:lnTo>
                      <a:pt x="200025" y="125215"/>
                    </a:lnTo>
                    <a:lnTo>
                      <a:pt x="200025" y="39490"/>
                    </a:lnTo>
                    <a:close/>
                  </a:path>
                </a:pathLst>
              </a:custGeom>
              <a:solidFill>
                <a:srgbClr val="1E4DBC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82040" y="5201602"/>
              <a:ext cx="26362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⚡ 5 AI AGENTS IN SWARM COORDINATION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82992" y="5466874"/>
              <a:ext cx="5498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Primary models: Google Gemini 2.0 Flash via Google AI Studio for fast JSON processing.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82992" y="5657374"/>
              <a:ext cx="67661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Failover routing: NVIDIA NIM (Llama 3.3 70B Instruct) and Fireworks AI ensure zero rate-limit disruptions.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79" name="Line 79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61022" y="6654641"/>
              <a:ext cx="18691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PROJECT DOOMSDAY — CONFIDENTIAL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03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8" grpId="0"/>
      <p:bldP spid="36" grpId="0"/>
      <p:bldP spid="44" grpId="0"/>
      <p:bldP spid="54" grpId="0"/>
      <p:bldP spid="62" grpId="0"/>
      <p:bldP spid="70" grpId="0"/>
      <p:bldP spid="7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8919591" cy="785812"/>
            <a:chOff x="571500" y="533400"/>
            <a:chExt cx="8919591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866051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MULTI-AGENT SWARM / CO-ORDINATION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3296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03 · 5 SPECIALIZED AGENTS IN COORDINATED SWARM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571500" y="1666875"/>
            <a:ext cx="2076450" cy="3267075"/>
            <a:chOff x="571500" y="1666875"/>
            <a:chExt cx="2076450" cy="3267075"/>
          </a:xfrm>
        </p:grpSpPr>
        <p:sp>
          <p:nvSpPr>
            <p:cNvPr id="11" name="Rectangle 11"/>
            <p:cNvSpPr/>
            <p:nvPr/>
          </p:nvSpPr>
          <p:spPr>
            <a:xfrm>
              <a:off x="571500" y="1666875"/>
              <a:ext cx="2047875" cy="3238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0075" y="1695450"/>
              <a:ext cx="2047875" cy="3238500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2047875" cy="3238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230" y="1902142"/>
              <a:ext cx="18795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INTELLIGENCE ANALYST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14375" y="2143125"/>
              <a:ext cx="1000125" cy="209550"/>
            </a:xfrm>
            <a:prstGeom prst="rect">
              <a:avLst/>
            </a:prstGeom>
            <a:solidFill>
              <a:srgbClr val="F5EF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0572" y="2206466"/>
              <a:ext cx="8468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RISK DISCOVERY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2945" y="2426970"/>
              <a:ext cx="814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Temp: T = 0.5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14375" y="2638425"/>
              <a:ext cx="1666875" cy="9525"/>
            </a:xfrm>
            <a:custGeom>
              <a:avLst/>
              <a:gdLst/>
              <a:ahLst/>
              <a:cxnLst/>
              <a:rect l="l" t="t" r="r" b="b"/>
              <a:pathLst>
                <a:path w="1666875" h="9525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1992" y="2799874"/>
              <a:ext cx="12924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Synthesises 6 Tavily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1992" y="2990374"/>
              <a:ext cx="12014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vectors + company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1992" y="3180874"/>
              <a:ext cx="1168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fundamentals into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1992" y="3371374"/>
              <a:ext cx="9998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geolocated risk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1992" y="3561874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scenarios with severity,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1992" y="3752374"/>
              <a:ext cx="10388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probability, and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1992" y="3942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revenue-at-risk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1992" y="4133374"/>
              <a:ext cx="733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estimates.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809875" y="1666875"/>
            <a:ext cx="2076450" cy="3267075"/>
            <a:chOff x="2809875" y="1666875"/>
            <a:chExt cx="2076450" cy="3267075"/>
          </a:xfrm>
        </p:grpSpPr>
        <p:sp>
          <p:nvSpPr>
            <p:cNvPr id="28" name="Rectangle 28"/>
            <p:cNvSpPr/>
            <p:nvPr/>
          </p:nvSpPr>
          <p:spPr>
            <a:xfrm>
              <a:off x="2809875" y="1666875"/>
              <a:ext cx="2047875" cy="3238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838450" y="1695450"/>
              <a:ext cx="2047875" cy="3238500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809875" y="1666875"/>
              <a:ext cx="2047875" cy="3238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935605" y="1902142"/>
              <a:ext cx="13124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BEAR ADVOCATE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952750" y="2143125"/>
              <a:ext cx="1000125" cy="20955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008948" y="2206466"/>
              <a:ext cx="7371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PROSECUTION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41320" y="2426970"/>
              <a:ext cx="814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Temp: T = 0.6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2952750" y="2638425"/>
              <a:ext cx="1666875" cy="9525"/>
            </a:xfrm>
            <a:custGeom>
              <a:avLst/>
              <a:gdLst/>
              <a:ahLst/>
              <a:cxnLst/>
              <a:rect l="l" t="t" r="r" b="b"/>
              <a:pathLst>
                <a:path w="1666875" h="9525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40368" y="2799874"/>
              <a:ext cx="15524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Argues worst-case with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40368" y="2990374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historical precedents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40368" y="3180874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and catastrophic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40368" y="3371374"/>
              <a:ext cx="1058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framing. Pushes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40368" y="3561874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severity metrics up.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40368" y="3752374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Acts as adversarial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40368" y="3942874"/>
              <a:ext cx="13834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counterweight to the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40368" y="4133374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bull analyst.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048250" y="1666875"/>
            <a:ext cx="2076450" cy="3267075"/>
            <a:chOff x="5048250" y="1666875"/>
            <a:chExt cx="2076450" cy="3267075"/>
          </a:xfrm>
        </p:grpSpPr>
        <p:sp>
          <p:nvSpPr>
            <p:cNvPr id="45" name="Rectangle 45"/>
            <p:cNvSpPr/>
            <p:nvPr/>
          </p:nvSpPr>
          <p:spPr>
            <a:xfrm>
              <a:off x="5048250" y="1666875"/>
              <a:ext cx="2047875" cy="3238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076825" y="1695450"/>
              <a:ext cx="2047875" cy="3238500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048250" y="1666875"/>
              <a:ext cx="2047875" cy="3238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173980" y="1902142"/>
              <a:ext cx="13124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BULL ADVOCATE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191125" y="2143125"/>
              <a:ext cx="1000125" cy="20955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47322" y="2206466"/>
              <a:ext cx="4656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DEFENCE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179695" y="2426970"/>
              <a:ext cx="814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Temp: T = 0.6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191125" y="2638425"/>
              <a:ext cx="1666875" cy="9525"/>
            </a:xfrm>
            <a:custGeom>
              <a:avLst/>
              <a:gdLst/>
              <a:ahLst/>
              <a:cxnLst/>
              <a:rect l="l" t="t" r="r" b="b"/>
              <a:pathLst>
                <a:path w="1666875" h="9525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178742" y="279987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Challenges evidence,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78742" y="2990374"/>
              <a:ext cx="1279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presents mitigating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178742" y="3180874"/>
              <a:ext cx="1318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factors, and argues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178742" y="3371374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the market has already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178742" y="3561874"/>
              <a:ext cx="11884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priced the risk in.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78742" y="3752374"/>
              <a:ext cx="15654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Pushes severity metrics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178742" y="3942874"/>
              <a:ext cx="791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downwards.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286625" y="1666875"/>
            <a:ext cx="2076450" cy="3267075"/>
            <a:chOff x="7286625" y="1666875"/>
            <a:chExt cx="2076450" cy="3267075"/>
          </a:xfrm>
        </p:grpSpPr>
        <p:sp>
          <p:nvSpPr>
            <p:cNvPr id="61" name="Rectangle 61"/>
            <p:cNvSpPr/>
            <p:nvPr/>
          </p:nvSpPr>
          <p:spPr>
            <a:xfrm>
              <a:off x="7286625" y="1666875"/>
              <a:ext cx="2047875" cy="3238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315200" y="1695450"/>
              <a:ext cx="2047875" cy="3238500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286625" y="1666875"/>
              <a:ext cx="2047875" cy="3238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12355" y="1902142"/>
              <a:ext cx="13754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FRACTURE JUDGE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429500" y="2143125"/>
              <a:ext cx="1000125" cy="20955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85698" y="2206466"/>
              <a:ext cx="76024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FINAL VERDICT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18070" y="2426970"/>
              <a:ext cx="814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Temp: T = 0.3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7429500" y="2638425"/>
              <a:ext cx="1666875" cy="9525"/>
            </a:xfrm>
            <a:custGeom>
              <a:avLst/>
              <a:gdLst/>
              <a:ahLst/>
              <a:cxnLst/>
              <a:rect l="l" t="t" r="r" b="b"/>
              <a:pathLst>
                <a:path w="1666875" h="9525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417118" y="2799874"/>
              <a:ext cx="12209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Low-temperature,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17118" y="2990374"/>
              <a:ext cx="15784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high-conviction arbiter.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17118" y="3180874"/>
              <a:ext cx="15069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Uses calibrated rubric: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17118" y="3371374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8+ is catastrophic,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17118" y="3561874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6–7 is material,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417118" y="3752374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&lt;4 is dismissed.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17118" y="3942874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Acts as final authority.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525000" y="1666875"/>
            <a:ext cx="2076450" cy="3267075"/>
            <a:chOff x="9525000" y="1666875"/>
            <a:chExt cx="2076450" cy="3267075"/>
          </a:xfrm>
        </p:grpSpPr>
        <p:sp>
          <p:nvSpPr>
            <p:cNvPr id="77" name="Rectangle 77"/>
            <p:cNvSpPr/>
            <p:nvPr/>
          </p:nvSpPr>
          <p:spPr>
            <a:xfrm>
              <a:off x="9525000" y="1666875"/>
              <a:ext cx="2047875" cy="3238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9553575" y="1695450"/>
              <a:ext cx="2047875" cy="3238500"/>
            </a:xfrm>
            <a:prstGeom prst="rect">
              <a:avLst/>
            </a:prstGeom>
            <a:solidFill>
              <a:srgbClr val="E8A02E">
                <a:alpha val="40000"/>
              </a:srgbClr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525000" y="1666875"/>
              <a:ext cx="2047875" cy="3238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650730" y="1902142"/>
              <a:ext cx="17715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CONTAGION MODELER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667875" y="2143125"/>
              <a:ext cx="1000125" cy="209550"/>
            </a:xfrm>
            <a:prstGeom prst="rect">
              <a:avLst/>
            </a:prstGeom>
            <a:solidFill>
              <a:srgbClr val="F5EFE0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724072" y="2206466"/>
              <a:ext cx="4656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CASCADE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656445" y="2426970"/>
              <a:ext cx="814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Temp: T = 0.5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9667875" y="2638425"/>
              <a:ext cx="1666875" cy="9525"/>
            </a:xfrm>
            <a:custGeom>
              <a:avLst/>
              <a:gdLst/>
              <a:ahLst/>
              <a:cxnLst/>
              <a:rect l="l" t="t" r="r" b="b"/>
              <a:pathLst>
                <a:path w="1666875" h="9525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655492" y="2799874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Models 2nd, 3rd, and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655492" y="2990374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4th-order propagation.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655492" y="3180874"/>
              <a:ext cx="12404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Traces how a shock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655492" y="3371374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cascades through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655492" y="3561874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corporate P&amp;L → credit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655492" y="3752374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ratings → refinancing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55492" y="3942874"/>
              <a:ext cx="1831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costs → capital expenditure.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571500" y="5095875"/>
            <a:ext cx="11049000" cy="857250"/>
            <a:chOff x="571500" y="5095875"/>
            <a:chExt cx="11049000" cy="857250"/>
          </a:xfrm>
        </p:grpSpPr>
        <p:sp>
          <p:nvSpPr>
            <p:cNvPr id="93" name="Rectangle 93"/>
            <p:cNvSpPr/>
            <p:nvPr/>
          </p:nvSpPr>
          <p:spPr>
            <a:xfrm>
              <a:off x="571500" y="5095875"/>
              <a:ext cx="11049000" cy="85725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95338" y="5279231"/>
              <a:ext cx="45291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WHY ADVERSARIAL SWARMS? // STRENGTHS VS. SINGLE-AGENT BIAS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97242" y="5514499"/>
              <a:ext cx="9021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Single-agent analysis always creates severe confirmation bias. Adversarial architectures force steel-manning before judgement is passed.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97242" y="5676424"/>
              <a:ext cx="76502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Mimics institutional Investment Committee (IC) processes: Research Analyst discovery → IC Debate → final PM decision.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98" name="Line 98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61022" y="6654641"/>
              <a:ext cx="18691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PROJECT DOOMSDAY — CONFIDENTIAL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04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  <p:bldP spid="60" grpId="0"/>
      <p:bldP spid="76" grpId="0"/>
      <p:bldP spid="92" grpId="0"/>
      <p:bldP spid="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10671810" cy="785812"/>
            <a:chOff x="571500" y="533400"/>
            <a:chExt cx="10671810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1041273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TECHNOLOGY STACK / PLATFORM INTEGRATIONS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3548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04 · TECHNOLOGY SELECTION &amp; RESILIENT DEPLOYMENT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571500" y="1714500"/>
            <a:ext cx="3457575" cy="1314450"/>
            <a:chOff x="571500" y="1714500"/>
            <a:chExt cx="3457575" cy="1314450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3429000" cy="1285875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0075" y="1743075"/>
              <a:ext cx="3429000" cy="1285875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714500"/>
              <a:ext cx="3429000" cy="1285875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950" y="1857375"/>
              <a:ext cx="18283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PRIMARY COGNITION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2123599"/>
              <a:ext cx="15401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Google Gemini 2.0 Flash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23241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9618" y="2418874"/>
              <a:ext cx="24885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Low-latency structured JSON output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2609374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Connected directly via Google AI Studio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81500" y="1714500"/>
            <a:ext cx="3457575" cy="1314450"/>
            <a:chOff x="4381500" y="1714500"/>
            <a:chExt cx="3457575" cy="1314450"/>
          </a:xfrm>
        </p:grpSpPr>
        <p:sp>
          <p:nvSpPr>
            <p:cNvPr id="20" name="Rectangle 20"/>
            <p:cNvSpPr/>
            <p:nvPr/>
          </p:nvSpPr>
          <p:spPr>
            <a:xfrm>
              <a:off x="4381500" y="1714500"/>
              <a:ext cx="3429000" cy="1285875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10075" y="1743075"/>
              <a:ext cx="3429000" cy="1285875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1714500"/>
              <a:ext cx="3429000" cy="1285875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52950" y="1857375"/>
              <a:ext cx="19383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FAILOVER COGNITION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59618" y="2123599"/>
              <a:ext cx="17585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NVIDIA NIM (Llama 3.3 70B)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572000" y="23241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59618" y="2418874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Auto-switch rate limit mitigation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59618" y="2609374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High capacity tribunal failover hosting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91500" y="1714500"/>
            <a:ext cx="3457575" cy="1314450"/>
            <a:chOff x="8191500" y="1714500"/>
            <a:chExt cx="3457575" cy="1314450"/>
          </a:xfrm>
        </p:grpSpPr>
        <p:sp>
          <p:nvSpPr>
            <p:cNvPr id="29" name="Rectangle 29"/>
            <p:cNvSpPr/>
            <p:nvPr/>
          </p:nvSpPr>
          <p:spPr>
            <a:xfrm>
              <a:off x="8191500" y="1714500"/>
              <a:ext cx="3429000" cy="1285875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20075" y="1743075"/>
              <a:ext cx="3429000" cy="1285875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191500" y="1714500"/>
              <a:ext cx="3429000" cy="1285875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62950" y="1857375"/>
              <a:ext cx="19583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REAL-TIME RESEARCH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69618" y="2123599"/>
              <a:ext cx="11305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Tavily Search API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382000" y="23241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69618" y="2418874"/>
              <a:ext cx="2820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Grounds intelligence vectors in live events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69618" y="2609374"/>
              <a:ext cx="26770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Prevents stale hallucinations in tribunal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3333750"/>
            <a:ext cx="3457575" cy="1314450"/>
            <a:chOff x="571500" y="3333750"/>
            <a:chExt cx="3457575" cy="1314450"/>
          </a:xfrm>
        </p:grpSpPr>
        <p:sp>
          <p:nvSpPr>
            <p:cNvPr id="38" name="Rectangle 38"/>
            <p:cNvSpPr/>
            <p:nvPr/>
          </p:nvSpPr>
          <p:spPr>
            <a:xfrm>
              <a:off x="571500" y="3333750"/>
              <a:ext cx="3429000" cy="1285875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0075" y="3362325"/>
              <a:ext cx="3429000" cy="1285875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1500" y="3333750"/>
              <a:ext cx="3429000" cy="1285875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2950" y="3476625"/>
              <a:ext cx="18283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MARKET TELEMETRY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9618" y="3742849"/>
              <a:ext cx="12738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yfinance Data Feed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762000" y="39433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9618" y="4038124"/>
              <a:ext cx="26770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Live quotes, fundamentals, FX matrices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9618" y="4228624"/>
              <a:ext cx="2553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Covers over 60 global stock exchanges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381500" y="3333750"/>
            <a:ext cx="3457575" cy="1314450"/>
            <a:chOff x="4381500" y="3333750"/>
            <a:chExt cx="3457575" cy="1314450"/>
          </a:xfrm>
        </p:grpSpPr>
        <p:sp>
          <p:nvSpPr>
            <p:cNvPr id="47" name="Rectangle 47"/>
            <p:cNvSpPr/>
            <p:nvPr/>
          </p:nvSpPr>
          <p:spPr>
            <a:xfrm>
              <a:off x="4381500" y="3333750"/>
              <a:ext cx="3429000" cy="1285875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4410075" y="3362325"/>
              <a:ext cx="3429000" cy="1285875"/>
            </a:xfrm>
            <a:prstGeom prst="rect">
              <a:avLst/>
            </a:prstGeom>
            <a:solidFill>
              <a:srgbClr val="FF5C8A">
                <a:alpha val="15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381500" y="3333750"/>
              <a:ext cx="3429000" cy="1285875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52950" y="3476625"/>
              <a:ext cx="19583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PRESENTATION LAYER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59618" y="3742849"/>
              <a:ext cx="16015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Streamlit / Static HTML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4572000" y="39433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59618" y="4038124"/>
              <a:ext cx="22090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Single-file python rapid UI layout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59618" y="4228624"/>
              <a:ext cx="25210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High fidelity threat radar Plotly maps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191500" y="3333750"/>
            <a:ext cx="3457575" cy="1314450"/>
            <a:chOff x="8191500" y="3333750"/>
            <a:chExt cx="3457575" cy="1314450"/>
          </a:xfrm>
        </p:grpSpPr>
        <p:sp>
          <p:nvSpPr>
            <p:cNvPr id="56" name="Rectangle 56"/>
            <p:cNvSpPr/>
            <p:nvPr/>
          </p:nvSpPr>
          <p:spPr>
            <a:xfrm>
              <a:off x="8191500" y="3333750"/>
              <a:ext cx="3429000" cy="128587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220075" y="3362325"/>
              <a:ext cx="3429000" cy="1285875"/>
            </a:xfrm>
            <a:prstGeom prst="rect">
              <a:avLst/>
            </a:prstGeom>
            <a:solidFill>
              <a:srgbClr val="1E4DBC">
                <a:alpha val="40000"/>
              </a:srgbClr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191500" y="3333750"/>
              <a:ext cx="3429000" cy="128587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62950" y="3476625"/>
              <a:ext cx="21483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VISUAL DATA RENDERING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69618" y="3742849"/>
              <a:ext cx="8643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Plotly Engine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8382000" y="39433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69618" y="4038124"/>
              <a:ext cx="22220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Geolocated curved threat charts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69618" y="4228624"/>
              <a:ext cx="26510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Transparent waterfall valuation graphs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4953000"/>
            <a:ext cx="11049000" cy="952500"/>
            <a:chOff x="571500" y="4953000"/>
            <a:chExt cx="11049000" cy="952500"/>
          </a:xfrm>
        </p:grpSpPr>
        <p:sp>
          <p:nvSpPr>
            <p:cNvPr id="65" name="Rectangle 65"/>
            <p:cNvSpPr/>
            <p:nvPr/>
          </p:nvSpPr>
          <p:spPr>
            <a:xfrm>
              <a:off x="571500" y="4953000"/>
              <a:ext cx="11049000" cy="95250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5338" y="5164931"/>
              <a:ext cx="28796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OBSERVABILITY &amp; OTLP TELEMETRY LINK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7242" y="5419249"/>
              <a:ext cx="6356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Instrumented with Arize Phoenix open telemetry tracing. Every agent span, Tavily search vector,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7242" y="5609749"/>
              <a:ext cx="70196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and LLM judge decision exports OTLP trace files to cloud endpoints for monitoring, tracking latency and cost.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70" name="Line 70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61022" y="6654641"/>
              <a:ext cx="18691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PROJECT DOOMSDAY — CONFIDENTIAL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05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8" grpId="0"/>
      <p:bldP spid="37" grpId="0"/>
      <p:bldP spid="46" grpId="0"/>
      <p:bldP spid="55" grpId="0"/>
      <p:bldP spid="64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7887462" cy="785812"/>
            <a:chOff x="571500" y="533400"/>
            <a:chExt cx="7887462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762838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IMPLEMENTATION PLAN / ROADMAP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3884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05 · NEXT 3 TO 6 MONTHS PRODUCT DEVELOPMENT SCHEDULE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1143000" y="3429000"/>
            <a:ext cx="9906000" cy="47625"/>
            <a:chOff x="1143000" y="3429000"/>
            <a:chExt cx="9906000" cy="47625"/>
          </a:xfrm>
        </p:grpSpPr>
        <p:sp>
          <p:nvSpPr>
            <p:cNvPr id="11" name="Line 11"/>
            <p:cNvSpPr/>
            <p:nvPr/>
          </p:nvSpPr>
          <p:spPr>
            <a:xfrm>
              <a:off x="1143000" y="3429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>
              <a:solidFill>
                <a:srgbClr val="1A1A1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4671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FF5C8A">
                  <a:alpha val="80000"/>
                </a:srgbClr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143000" y="2571750"/>
            <a:ext cx="1743075" cy="1743075"/>
            <a:chOff x="1143000" y="2571750"/>
            <a:chExt cx="1743075" cy="1743075"/>
          </a:xfrm>
        </p:grpSpPr>
        <p:sp>
          <p:nvSpPr>
            <p:cNvPr id="14" name="Rectangle 14"/>
            <p:cNvSpPr/>
            <p:nvPr/>
          </p:nvSpPr>
          <p:spPr>
            <a:xfrm>
              <a:off x="1143000" y="2571750"/>
              <a:ext cx="1714500" cy="1714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71575" y="2600325"/>
              <a:ext cx="1714500" cy="1714500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43000" y="2571750"/>
              <a:ext cx="1714500" cy="1714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02300" y="2726055"/>
              <a:ext cx="2913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N1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3267075"/>
              <a:ext cx="10082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IMMEDIATE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3022" y="3530441"/>
              <a:ext cx="8790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5C8A"/>
                  </a:solidFill>
                  <a:latin typeface="Consolas"/>
                  <a:ea typeface="Microsoft YaHei"/>
                  <a:cs typeface="Consolas"/>
                </a:rPr>
                <a:t>SEC 10-K PARSING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2070" y="3808095"/>
              <a:ext cx="1217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Auto-parse Item 1A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2070" y="3979545"/>
              <a:ext cx="1132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filing risk sections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619500" y="2571750"/>
            <a:ext cx="1743075" cy="1743075"/>
            <a:chOff x="3619500" y="2571750"/>
            <a:chExt cx="1743075" cy="1743075"/>
          </a:xfrm>
        </p:grpSpPr>
        <p:sp>
          <p:nvSpPr>
            <p:cNvPr id="23" name="Rectangle 23"/>
            <p:cNvSpPr/>
            <p:nvPr/>
          </p:nvSpPr>
          <p:spPr>
            <a:xfrm>
              <a:off x="3619500" y="2571750"/>
              <a:ext cx="1714500" cy="1714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48075" y="2600325"/>
              <a:ext cx="1714500" cy="1714500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19500" y="2571750"/>
              <a:ext cx="1714500" cy="1714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08792" y="2726055"/>
              <a:ext cx="3613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N2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90950" y="3267075"/>
              <a:ext cx="11282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NEXT WEEKS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99522" y="3530441"/>
              <a:ext cx="8185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SEBI / BSE FEED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98570" y="3808095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Support Indian equities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98570" y="3979545"/>
              <a:ext cx="14210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Deep regulatory scans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0" y="2571750"/>
            <a:ext cx="1924145" cy="1743075"/>
            <a:chOff x="6096000" y="2571750"/>
            <a:chExt cx="1924145" cy="1743075"/>
          </a:xfrm>
        </p:grpSpPr>
        <p:sp>
          <p:nvSpPr>
            <p:cNvPr id="32" name="Rectangle 32"/>
            <p:cNvSpPr/>
            <p:nvPr/>
          </p:nvSpPr>
          <p:spPr>
            <a:xfrm>
              <a:off x="6096000" y="2571750"/>
              <a:ext cx="1714500" cy="1714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124575" y="2600325"/>
              <a:ext cx="1714500" cy="1714500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0" y="2571750"/>
              <a:ext cx="1714500" cy="1714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29284" y="2726055"/>
              <a:ext cx="41738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67450" y="3267075"/>
              <a:ext cx="10182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QUARTER 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6022" y="3530441"/>
              <a:ext cx="9725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PORTFOLIO ENGINE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5070" y="3808095"/>
              <a:ext cx="1691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Cross-holding correlations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5070" y="3979545"/>
              <a:ext cx="17450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McKinsey-style PDF reports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572500" y="2571750"/>
            <a:ext cx="1768126" cy="1743075"/>
            <a:chOff x="8572500" y="2571750"/>
            <a:chExt cx="1768126" cy="1743075"/>
          </a:xfrm>
        </p:grpSpPr>
        <p:sp>
          <p:nvSpPr>
            <p:cNvPr id="41" name="Rectangle 41"/>
            <p:cNvSpPr/>
            <p:nvPr/>
          </p:nvSpPr>
          <p:spPr>
            <a:xfrm>
              <a:off x="8572500" y="2571750"/>
              <a:ext cx="1714500" cy="1714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601075" y="2600325"/>
              <a:ext cx="1714500" cy="1714500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572500" y="2571750"/>
              <a:ext cx="1714500" cy="1714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05784" y="2726055"/>
              <a:ext cx="41738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Q4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43950" y="3267075"/>
              <a:ext cx="10182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QUARTER 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52522" y="3530441"/>
              <a:ext cx="112659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LYING GAP / WEBHOOK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1570" y="3808095"/>
              <a:ext cx="1589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News vs filing divergence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51570" y="3979545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Slack/Teams alarms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4667250"/>
            <a:ext cx="11049000" cy="1333500"/>
            <a:chOff x="571500" y="4667250"/>
            <a:chExt cx="11049000" cy="1333500"/>
          </a:xfrm>
        </p:grpSpPr>
        <p:sp>
          <p:nvSpPr>
            <p:cNvPr id="50" name="Rectangle 50"/>
            <p:cNvSpPr/>
            <p:nvPr/>
          </p:nvSpPr>
          <p:spPr>
            <a:xfrm>
              <a:off x="571500" y="4667250"/>
              <a:ext cx="11049000" cy="133350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96290" y="4839652"/>
              <a:ext cx="2717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⚡ VALUE ADDED ROADMAP ENHANCEMENTS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7242" y="5085874"/>
              <a:ext cx="9203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"Lying Gap" detection (Q4) surfaces alpha signals when company filing statements significantly diverge from live geopolitical search streams.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7242" y="5276374"/>
              <a:ext cx="85213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Macro Feedback loops dynamically scale global baseline fear indexes, scaling asset haircuts non-linearly if Chaos scores exceed 0.8.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7242" y="5466874"/>
              <a:ext cx="77867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Slack and Teams webhook alerting ensures portfolio managers receive immediate verdicts directly on corporate devices.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56" name="Line 56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61022" y="6654641"/>
              <a:ext cx="18691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PROJECT DOOMSDAY — CONFIDENTIAL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06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31" grpId="0"/>
      <p:bldP spid="40" grpId="0"/>
      <p:bldP spid="49" grpId="0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8559546" cy="785812"/>
            <a:chOff x="571500" y="533400"/>
            <a:chExt cx="8559546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830046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FEASIBILITY &amp; GO-TO-MARKET MODEL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33170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06 · BUSINESS MODEL, TIERING &amp; HIGH UNIT MARGINS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571500" y="1714500"/>
            <a:ext cx="2505075" cy="1743075"/>
            <a:chOff x="571500" y="1714500"/>
            <a:chExt cx="2505075" cy="1743075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2476500" cy="1714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0075" y="1743075"/>
              <a:ext cx="2476500" cy="1714500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714500"/>
              <a:ext cx="2476500" cy="1714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1045" y="1869758"/>
              <a:ext cx="14500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FREE / RETAIL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4855" y="214026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$0 / MONTH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24003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9618" y="2542699"/>
              <a:ext cx="1617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Retail &amp; Student access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27331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3 watchlist analyses/day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292369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Main funnel lead generation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333750" y="1714500"/>
            <a:ext cx="2505075" cy="1743075"/>
            <a:chOff x="3333750" y="1714500"/>
            <a:chExt cx="2505075" cy="1743075"/>
          </a:xfrm>
        </p:grpSpPr>
        <p:sp>
          <p:nvSpPr>
            <p:cNvPr id="21" name="Rectangle 21"/>
            <p:cNvSpPr/>
            <p:nvPr/>
          </p:nvSpPr>
          <p:spPr>
            <a:xfrm>
              <a:off x="3333750" y="1714500"/>
              <a:ext cx="2476500" cy="1714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62325" y="1743075"/>
              <a:ext cx="2476500" cy="1714500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333750" y="1714500"/>
              <a:ext cx="2476500" cy="1714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03295" y="1869758"/>
              <a:ext cx="944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PRO TIER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07105" y="2140268"/>
              <a:ext cx="14803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$99 - $299 / MO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524250" y="24003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11868" y="2542699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Analysts, RIAs &amp; Small funds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1868" y="273319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Unlimited risk scan vectors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11868" y="2923699"/>
              <a:ext cx="17474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PDF IC memo exports &amp; API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3714750"/>
            <a:ext cx="2505075" cy="1743075"/>
            <a:chOff x="571500" y="3714750"/>
            <a:chExt cx="2505075" cy="1743075"/>
          </a:xfrm>
        </p:grpSpPr>
        <p:sp>
          <p:nvSpPr>
            <p:cNvPr id="31" name="Rectangle 31"/>
            <p:cNvSpPr/>
            <p:nvPr/>
          </p:nvSpPr>
          <p:spPr>
            <a:xfrm>
              <a:off x="571500" y="3714750"/>
              <a:ext cx="2476500" cy="1714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0075" y="3743325"/>
              <a:ext cx="2476500" cy="1714500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1500" y="3714750"/>
              <a:ext cx="2476500" cy="1714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1045" y="3870008"/>
              <a:ext cx="14940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INSTITUTIONAL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4855" y="4140518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$2K - $10K / MO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62000" y="44005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9618" y="4542949"/>
              <a:ext cx="21505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Hedge funds, PE, Family offices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618" y="4733449"/>
              <a:ext cx="1682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White-label integrations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9618" y="492394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SEC EDGAR / SEBI compliance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333750" y="3714750"/>
            <a:ext cx="2505075" cy="1743075"/>
            <a:chOff x="3333750" y="3714750"/>
            <a:chExt cx="2505075" cy="1743075"/>
          </a:xfrm>
        </p:grpSpPr>
        <p:sp>
          <p:nvSpPr>
            <p:cNvPr id="41" name="Rectangle 41"/>
            <p:cNvSpPr/>
            <p:nvPr/>
          </p:nvSpPr>
          <p:spPr>
            <a:xfrm>
              <a:off x="3333750" y="3714750"/>
              <a:ext cx="2476500" cy="1714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362325" y="3743325"/>
              <a:ext cx="2476500" cy="1714500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333750" y="3714750"/>
              <a:ext cx="2476500" cy="1714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503295" y="3870008"/>
              <a:ext cx="12080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API SERVICE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07105" y="4140518"/>
              <a:ext cx="14803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PER-CALL METER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3524250" y="44005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511868" y="4542949"/>
              <a:ext cx="17214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Fintechs &amp; Robo-advisors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11868" y="4733449"/>
              <a:ext cx="18449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Embeddable stress modules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11868" y="4923949"/>
              <a:ext cx="19165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Direct programmatic access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91250" y="1714500"/>
            <a:ext cx="5429250" cy="3714750"/>
            <a:chOff x="6191250" y="1714500"/>
            <a:chExt cx="5429250" cy="3714750"/>
          </a:xfrm>
        </p:grpSpPr>
        <p:sp>
          <p:nvSpPr>
            <p:cNvPr id="51" name="Rectangle 51"/>
            <p:cNvSpPr/>
            <p:nvPr/>
          </p:nvSpPr>
          <p:spPr>
            <a:xfrm>
              <a:off x="6191250" y="1714500"/>
              <a:ext cx="5429250" cy="371475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54140" y="1948815"/>
              <a:ext cx="30820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PLATFORM UNIT ECONOMICS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6477000" y="22669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14288">
              <a:solidFill>
                <a:srgbClr val="1A1A1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61760" y="2489835"/>
              <a:ext cx="20887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Gemini API Cost / Analysis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64618" y="2704624"/>
              <a:ext cx="35677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5A"/>
                  </a:solidFill>
                  <a:latin typeface="Arial"/>
                  <a:ea typeface="Microsoft YaHei"/>
                  <a:cs typeface="Arial"/>
                </a:rPr>
                <a:t>Extracts, filters, and formats structured parameters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15690" y="2520315"/>
              <a:ext cx="1641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$0.03 - $0.08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61760" y="3108960"/>
              <a:ext cx="23743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Tavily Search Cost / Analysis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4618" y="3323749"/>
              <a:ext cx="3132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5A"/>
                  </a:solidFill>
                  <a:latin typeface="Arial"/>
                  <a:ea typeface="Microsoft YaHei"/>
                  <a:cs typeface="Arial"/>
                </a:rPr>
                <a:t>Triggers 6 parallel web-scrape intelligence paths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75698" y="3139440"/>
              <a:ext cx="15819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$0.01 - $0.02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77000" y="3714750"/>
              <a:ext cx="4857750" cy="47625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50355" y="38738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GROSS MARGIN AT SCALE: &gt;95%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93048" y="3906202"/>
              <a:ext cx="1364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EXCEL UNIT METRICS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59855" y="4378642"/>
              <a:ext cx="29686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EMERGING MARKET (BSE/NSE) MOAT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64618" y="4657249"/>
              <a:ext cx="4822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Western risk analytics engines neglect emerging market micro-structures.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4618" y="4847749"/>
              <a:ext cx="43933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Aegis Codex fills this gap with native Indian market feeds (NSE/BSE),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64618" y="5038249"/>
              <a:ext cx="45948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providing a massive data and positioning moat for local asset managers.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68" name="Line 68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1022" y="6654641"/>
              <a:ext cx="18691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PROJECT DOOMSDAY — CONFIDENTIAL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07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  <p:bldP spid="40" grpId="0"/>
      <p:bldP spid="50" grpId="0"/>
      <p:bldP spid="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6903339" cy="785812"/>
            <a:chOff x="571500" y="533400"/>
            <a:chExt cx="6903339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664425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INNOVATIONS &amp; FUTURE SCOPE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36391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07 · PRODUCT DIFFERENTIATORS &amp; NOVEL METHODOLOGY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571500" y="1714500"/>
            <a:ext cx="2505075" cy="3076575"/>
            <a:chOff x="571500" y="1714500"/>
            <a:chExt cx="2505075" cy="3076575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2476500" cy="30480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0075" y="1743075"/>
              <a:ext cx="2476500" cy="3048000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714500"/>
              <a:ext cx="2476500" cy="30480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950" y="1933575"/>
              <a:ext cx="2081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4855" y="2187892"/>
              <a:ext cx="13934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CONTEXT-AWARE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4855" y="2378392"/>
              <a:ext cx="10154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VALUATIONS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" y="26670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9618" y="2847499"/>
              <a:ext cx="1441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Five distinct valuation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303799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methodologies dynamically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3228499"/>
              <a:ext cx="1571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routed based on sector.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34189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Banks are stress-tested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3609499"/>
              <a:ext cx="1409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via P/BV; cyclicals via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3799999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EBITDA; and high growth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9618" y="3990499"/>
              <a:ext cx="15784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equities via EV/Revenue.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41809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All haircuts are market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9618" y="43714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anchored and downward.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33750" y="1714500"/>
            <a:ext cx="2505075" cy="3076575"/>
            <a:chOff x="3333750" y="1714500"/>
            <a:chExt cx="2505075" cy="3076575"/>
          </a:xfrm>
        </p:grpSpPr>
        <p:sp>
          <p:nvSpPr>
            <p:cNvPr id="28" name="Rectangle 28"/>
            <p:cNvSpPr/>
            <p:nvPr/>
          </p:nvSpPr>
          <p:spPr>
            <a:xfrm>
              <a:off x="3333750" y="1714500"/>
              <a:ext cx="2476500" cy="30480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362325" y="1743075"/>
              <a:ext cx="2476500" cy="3048000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0" y="1714500"/>
              <a:ext cx="2476500" cy="30480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05200" y="1933575"/>
              <a:ext cx="2581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07105" y="2187892"/>
              <a:ext cx="10154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GEOGRAPHIC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07105" y="2378392"/>
              <a:ext cx="11324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INTELLIGENCE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524250" y="26670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11868" y="2847499"/>
              <a:ext cx="1656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Every identified threat is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11868" y="30379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instantly mapped to its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11868" y="32284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physical coordinates.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11868" y="3418999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Curved convergence lines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11868" y="3609499"/>
              <a:ext cx="15784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illustrate concentration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11868" y="3799999"/>
              <a:ext cx="18774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of supply chain vulnerability,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11868" y="3990499"/>
              <a:ext cx="19100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instantly visualising exposure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11868" y="4180999"/>
              <a:ext cx="1409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risks globally in under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11868" y="4371499"/>
              <a:ext cx="7788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60 seconds.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0" y="1714500"/>
            <a:ext cx="2505075" cy="3076575"/>
            <a:chOff x="6096000" y="1714500"/>
            <a:chExt cx="2505075" cy="3076575"/>
          </a:xfrm>
        </p:grpSpPr>
        <p:sp>
          <p:nvSpPr>
            <p:cNvPr id="45" name="Rectangle 45"/>
            <p:cNvSpPr/>
            <p:nvPr/>
          </p:nvSpPr>
          <p:spPr>
            <a:xfrm>
              <a:off x="6096000" y="1714500"/>
              <a:ext cx="2476500" cy="30480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124575" y="1743075"/>
              <a:ext cx="2476500" cy="3048000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96000" y="1714500"/>
              <a:ext cx="2476500" cy="30480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67450" y="1933575"/>
              <a:ext cx="2581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03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69355" y="2187892"/>
              <a:ext cx="9524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CONTAGION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69355" y="2378392"/>
              <a:ext cx="8263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CASCADES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286500" y="26670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74118" y="28474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Models Risk A → Effect B 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74118" y="3037999"/>
              <a:ext cx="1792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Effect C propagation chain.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74118" y="3228499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Computes compound correlation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74118" y="34189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(ρ → 1) as baseline 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74118" y="36094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chaos index steps up.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74118" y="37999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Inspired by Kiyotaki-Moore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74118" y="3990499"/>
              <a:ext cx="11104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credit cycles and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74118" y="418099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Minsky Moment asset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74118" y="4371499"/>
              <a:ext cx="1279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repricing formulas.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858250" y="1714500"/>
            <a:ext cx="2505075" cy="3076575"/>
            <a:chOff x="8858250" y="1714500"/>
            <a:chExt cx="2505075" cy="3076575"/>
          </a:xfrm>
        </p:grpSpPr>
        <p:sp>
          <p:nvSpPr>
            <p:cNvPr id="62" name="Rectangle 62"/>
            <p:cNvSpPr/>
            <p:nvPr/>
          </p:nvSpPr>
          <p:spPr>
            <a:xfrm>
              <a:off x="8858250" y="1714500"/>
              <a:ext cx="2476500" cy="30480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886825" y="1743075"/>
              <a:ext cx="2476500" cy="3048000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858250" y="1714500"/>
              <a:ext cx="2476500" cy="30480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029700" y="1933575"/>
              <a:ext cx="2581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04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31605" y="2187892"/>
              <a:ext cx="12674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METHODOLOGY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31605" y="2378392"/>
              <a:ext cx="12224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TRANSPARENCY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048750" y="26670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036368" y="2847499"/>
              <a:ext cx="1792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No proprietary black boxes.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36368" y="3037999"/>
              <a:ext cx="17994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Every mathematical formula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36368" y="3228499"/>
              <a:ext cx="1753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is shown explicitly with the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36368" y="3418999"/>
              <a:ext cx="1929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actual parameters plugged in.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36368" y="36094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Every routing decision is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36368" y="3799999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fully flagged, and agent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36368" y="3990499"/>
              <a:ext cx="17994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reasoning traces are visible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36368" y="4180999"/>
              <a:ext cx="14614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for complete auditable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36368" y="4371499"/>
              <a:ext cx="10388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reproducibility.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71500" y="4953000"/>
            <a:ext cx="10763250" cy="952500"/>
            <a:chOff x="571500" y="4953000"/>
            <a:chExt cx="10763250" cy="952500"/>
          </a:xfrm>
        </p:grpSpPr>
        <p:sp>
          <p:nvSpPr>
            <p:cNvPr id="79" name="Rectangle 79"/>
            <p:cNvSpPr/>
            <p:nvPr/>
          </p:nvSpPr>
          <p:spPr>
            <a:xfrm>
              <a:off x="571500" y="4953000"/>
              <a:ext cx="10763250" cy="95250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96290" y="5144452"/>
              <a:ext cx="24230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⚡ COMPARED TO MARKET STANDARDS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97242" y="5371624"/>
              <a:ext cx="85733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Standard tools like Bloomberg or MSCI Barra utilize static, historical parameters and require days of manually configured scenarios.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97242" y="5562124"/>
              <a:ext cx="9814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Aegis Codex uses real-time LLM tribunal debates to instantly generate forward-looking, highly localized, and mathematically transparent stress tests.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84" name="Line 84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61022" y="6654641"/>
              <a:ext cx="18691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PROJECT DOOMSDAY — CONFIDENTIAL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08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  <p:bldP spid="61" grpId="0"/>
      <p:bldP spid="78" grpId="0"/>
      <p:bldP spid="8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76250" y="476250"/>
            <a:ext cx="11239500" cy="5524500"/>
          </a:xfrm>
          <a:prstGeom prst="rect">
            <a:avLst/>
          </a:prstGeom>
          <a:noFill/>
          <a:ln w="38100">
            <a:solidFill>
              <a:srgbClr val="1E4DBC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14350" y="514350"/>
            <a:ext cx="11239500" cy="5524500"/>
          </a:xfrm>
          <a:prstGeom prst="rect">
            <a:avLst/>
          </a:prstGeom>
          <a:noFill/>
          <a:ln w="19050">
            <a:solidFill>
              <a:srgbClr val="FF5C8A">
                <a:alpha val="80000"/>
              </a:srgbClr>
            </a:solidFill>
          </a:ln>
        </p:spPr>
      </p:sp>
      <p:sp>
        <p:nvSpPr>
          <p:cNvPr id="6" name="Rectangle 6"/>
          <p:cNvSpPr/>
          <p:nvPr/>
        </p:nvSpPr>
        <p:spPr>
          <a:xfrm>
            <a:off x="476250" y="476250"/>
            <a:ext cx="11239500" cy="333375"/>
          </a:xfrm>
          <a:prstGeom prst="rect">
            <a:avLst/>
          </a:prstGeom>
          <a:solidFill>
            <a:srgbClr val="1E4DB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54368" y="590074"/>
            <a:ext cx="65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endParaRPr lang="zh-CN" sz="975" b="1" dirty="0">
              <a:solidFill>
                <a:srgbClr val="F5EFE0"/>
              </a:solidFill>
              <a:latin typeface="Consolas"/>
              <a:ea typeface="Microsoft YaHei"/>
              <a:cs typeface="Consola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5295900" y="1390650"/>
            <a:ext cx="1562100" cy="1562100"/>
            <a:chOff x="5295900" y="1390650"/>
            <a:chExt cx="1562100" cy="1562100"/>
          </a:xfrm>
        </p:grpSpPr>
        <p:sp>
          <p:nvSpPr>
            <p:cNvPr id="8" name="Freeform 8"/>
            <p:cNvSpPr/>
            <p:nvPr/>
          </p:nvSpPr>
          <p:spPr>
            <a:xfrm>
              <a:off x="5334000" y="142875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190500" y="0"/>
                  </a:moveTo>
                  <a:lnTo>
                    <a:pt x="1333500" y="0"/>
                  </a:lnTo>
                  <a:lnTo>
                    <a:pt x="1524000" y="571500"/>
                  </a:lnTo>
                  <a:lnTo>
                    <a:pt x="762000" y="15240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F5C8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295900" y="139065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190500" y="0"/>
                  </a:moveTo>
                  <a:lnTo>
                    <a:pt x="1333500" y="0"/>
                  </a:lnTo>
                  <a:lnTo>
                    <a:pt x="1524000" y="571500"/>
                  </a:lnTo>
                  <a:lnTo>
                    <a:pt x="762000" y="15240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1E4DB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5810250" y="1952625"/>
              <a:ext cx="571500" cy="381000"/>
            </a:xfrm>
            <a:custGeom>
              <a:avLst/>
              <a:gdLst/>
              <a:ahLst/>
              <a:cxnLst/>
              <a:rect l="l" t="t" r="r" b="b"/>
              <a:pathLst>
                <a:path w="571500" h="381000">
                  <a:moveTo>
                    <a:pt x="0" y="142875"/>
                  </a:moveTo>
                  <a:lnTo>
                    <a:pt x="190500" y="381000"/>
                  </a:lnTo>
                  <a:lnTo>
                    <a:pt x="571500" y="0"/>
                  </a:lnTo>
                </a:path>
              </a:pathLst>
            </a:custGeom>
            <a:noFill/>
            <a:ln w="76200" cap="rnd">
              <a:solidFill>
                <a:srgbClr val="F5EFE0"/>
              </a:solidFill>
              <a:round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694908" y="3202305"/>
            <a:ext cx="10305193" cy="1007745"/>
            <a:chOff x="2694908" y="3202305"/>
            <a:chExt cx="10305193" cy="1007745"/>
          </a:xfrm>
        </p:grpSpPr>
        <p:sp>
          <p:nvSpPr>
            <p:cNvPr id="12" name="TextBox 12"/>
            <p:cNvSpPr txBox="1"/>
            <p:nvPr/>
          </p:nvSpPr>
          <p:spPr>
            <a:xfrm>
              <a:off x="2694908" y="3202305"/>
              <a:ext cx="680218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"THE NEXT CRISIS WON'T LOOK LIKE THE LAST ONE."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78197" y="3728085"/>
              <a:ext cx="5835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Aegis Codex doesn't predict which domino falls — it maps every domino,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0760" y="3966210"/>
              <a:ext cx="69193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debates which are unstable, and calculates what happens when they all fall at once.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714750" y="4619625"/>
            <a:ext cx="4800600" cy="895350"/>
            <a:chOff x="3714750" y="4619625"/>
            <a:chExt cx="4800600" cy="895350"/>
          </a:xfrm>
        </p:grpSpPr>
        <p:sp>
          <p:nvSpPr>
            <p:cNvPr id="16" name="Rectangle 16"/>
            <p:cNvSpPr/>
            <p:nvPr/>
          </p:nvSpPr>
          <p:spPr>
            <a:xfrm>
              <a:off x="3714750" y="4619625"/>
              <a:ext cx="4762500" cy="85725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52850" y="4657725"/>
              <a:ext cx="4762500" cy="857250"/>
            </a:xfrm>
            <a:prstGeom prst="rect">
              <a:avLst/>
            </a:prstGeom>
            <a:solidFill>
              <a:srgbClr val="1E4DBC">
                <a:alpha val="60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714750" y="4619625"/>
              <a:ext cx="4762500" cy="85725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8392" y="4774882"/>
              <a:ext cx="24952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MOOSA TALHA AL KASERI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8278" y="5085874"/>
              <a:ext cx="30554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IIM Kozhikode · Batch 29 | Aegis Platform Lead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15639" y="5273516"/>
              <a:ext cx="21607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github.com/mugichan-5627/Aegis_Codex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23" name="Line 23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1022" y="6654641"/>
              <a:ext cx="18691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PROJECT DOOMSDAY — CONFIDENTIAL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09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7707</Words>
  <Application>Microsoft Office PowerPoint</Application>
  <PresentationFormat>Widescreen</PresentationFormat>
  <Paragraphs>301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Moosa Al Kaseri</cp:lastModifiedBy>
  <cp:revision>2</cp:revision>
  <dcterms:created xsi:type="dcterms:W3CDTF">2013-01-27T09:14:16Z</dcterms:created>
  <dcterms:modified xsi:type="dcterms:W3CDTF">2026-06-01T18:28:08Z</dcterms:modified>
  <cp:category/>
</cp:coreProperties>
</file>