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951" y="0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10287000" y="0"/>
            <a:ext cx="1933575" cy="409575"/>
            <a:chOff x="10287000" y="0"/>
            <a:chExt cx="1933575" cy="409575"/>
          </a:xfrm>
        </p:grpSpPr>
        <p:sp>
          <p:nvSpPr>
            <p:cNvPr id="4" name="Polygon 4"/>
            <p:cNvSpPr/>
            <p:nvPr/>
          </p:nvSpPr>
          <p:spPr>
            <a:xfrm>
              <a:off x="10287000" y="0"/>
              <a:ext cx="1905000" cy="381000"/>
            </a:xfrm>
            <a:custGeom>
              <a:avLst/>
              <a:gdLst/>
              <a:ahLst/>
              <a:cxnLst/>
              <a:rect l="l" t="t" r="r" b="b"/>
              <a:pathLst>
                <a:path w="1905000" h="381000">
                  <a:moveTo>
                    <a:pt x="1905000" y="0"/>
                  </a:moveTo>
                  <a:lnTo>
                    <a:pt x="1905000" y="381000"/>
                  </a:lnTo>
                  <a:lnTo>
                    <a:pt x="0" y="3810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5C8A"/>
            </a:solidFill>
            <a:ln>
              <a:noFill/>
            </a:ln>
          </p:spPr>
        </p:sp>
        <p:sp>
          <p:nvSpPr>
            <p:cNvPr id="5" name="Polygon 5"/>
            <p:cNvSpPr/>
            <p:nvPr/>
          </p:nvSpPr>
          <p:spPr>
            <a:xfrm>
              <a:off x="10315575" y="28575"/>
              <a:ext cx="1905000" cy="381000"/>
            </a:xfrm>
            <a:custGeom>
              <a:avLst/>
              <a:gdLst/>
              <a:ahLst/>
              <a:cxnLst/>
              <a:rect l="l" t="t" r="r" b="b"/>
              <a:pathLst>
                <a:path w="1905000" h="381000">
                  <a:moveTo>
                    <a:pt x="1905000" y="0"/>
                  </a:moveTo>
                  <a:lnTo>
                    <a:pt x="1905000" y="381000"/>
                  </a:lnTo>
                  <a:lnTo>
                    <a:pt x="0" y="3810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1E4DBC">
                <a:alpha val="55000"/>
              </a:srgbClr>
            </a:solidFill>
            <a:ln>
              <a:noFill/>
            </a:ln>
          </p:spPr>
        </p:sp>
      </p:grpSp>
      <p:sp>
        <p:nvSpPr>
          <p:cNvPr id="7" name="Rectangle 7"/>
          <p:cNvSpPr/>
          <p:nvPr/>
        </p:nvSpPr>
        <p:spPr>
          <a:xfrm>
            <a:off x="571500" y="476250"/>
            <a:ext cx="11049000" cy="5524500"/>
          </a:xfrm>
          <a:prstGeom prst="rect">
            <a:avLst/>
          </a:prstGeom>
          <a:noFill/>
          <a:ln w="57150">
            <a:solidFill>
              <a:srgbClr val="1E4DBC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00075" y="504825"/>
            <a:ext cx="11049000" cy="5524500"/>
          </a:xfrm>
          <a:prstGeom prst="rect">
            <a:avLst/>
          </a:prstGeom>
          <a:noFill/>
          <a:ln w="57150">
            <a:solidFill>
              <a:srgbClr val="FF5C8A">
                <a:alpha val="75000"/>
              </a:srgbClr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752475" y="1776412"/>
            <a:ext cx="2634965" cy="1307678"/>
            <a:chOff x="752475" y="1776412"/>
            <a:chExt cx="2634965" cy="1307678"/>
          </a:xfrm>
        </p:grpSpPr>
        <p:sp>
          <p:nvSpPr>
            <p:cNvPr id="14" name="TextBox 14"/>
            <p:cNvSpPr txBox="1"/>
            <p:nvPr/>
          </p:nvSpPr>
          <p:spPr>
            <a:xfrm>
              <a:off x="790575" y="1814512"/>
              <a:ext cx="2596865" cy="126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AEGIS 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2475" y="1776412"/>
              <a:ext cx="2596865" cy="126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AEGIS 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36295" y="3012758"/>
            <a:ext cx="6360550" cy="563880"/>
            <a:chOff x="836295" y="3012758"/>
            <a:chExt cx="6360550" cy="563880"/>
          </a:xfrm>
        </p:grpSpPr>
        <p:sp>
          <p:nvSpPr>
            <p:cNvPr id="17" name="TextBox 17"/>
            <p:cNvSpPr txBox="1"/>
            <p:nvPr/>
          </p:nvSpPr>
          <p:spPr>
            <a:xfrm>
              <a:off x="836295" y="3012758"/>
              <a:ext cx="63605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AUTONOMOUS GEOPOLITICAL &amp; FINANCIAL RISK INTELLIGENCE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3915" y="3363278"/>
              <a:ext cx="33590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5C8A"/>
                  </a:solidFill>
                  <a:latin typeface="Consolas"/>
                  <a:ea typeface="Microsoft YaHei"/>
                  <a:cs typeface="Consolas"/>
                </a:rPr>
                <a:t>ACTIVE GEOPOLITICAL PORTFOLIO STRESSING ENGINE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57250" y="4000500"/>
            <a:ext cx="7458075" cy="1076325"/>
            <a:chOff x="857250" y="4000500"/>
            <a:chExt cx="7458075" cy="1076325"/>
          </a:xfrm>
        </p:grpSpPr>
        <p:sp>
          <p:nvSpPr>
            <p:cNvPr id="20" name="Rectangle 20"/>
            <p:cNvSpPr/>
            <p:nvPr/>
          </p:nvSpPr>
          <p:spPr>
            <a:xfrm>
              <a:off x="857250" y="4000500"/>
              <a:ext cx="2286000" cy="104775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85825" y="4029075"/>
              <a:ext cx="2286000" cy="1047750"/>
            </a:xfrm>
            <a:prstGeom prst="rect">
              <a:avLst/>
            </a:prstGeom>
            <a:solidFill>
              <a:srgbClr val="FF5C8A">
                <a:alpha val="40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57250" y="4000500"/>
              <a:ext cx="2286000" cy="104775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02030" y="4088130"/>
              <a:ext cx="35547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5368" y="4704874"/>
              <a:ext cx="9462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SWARM AGENTS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429000" y="4000500"/>
              <a:ext cx="2286000" cy="104775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457575" y="4029075"/>
              <a:ext cx="2286000" cy="1047750"/>
            </a:xfrm>
            <a:prstGeom prst="rect">
              <a:avLst/>
            </a:prstGeom>
            <a:solidFill>
              <a:srgbClr val="1E4DBC">
                <a:alpha val="20000"/>
              </a:srgbClr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429000" y="4000500"/>
              <a:ext cx="2286000" cy="104775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573780" y="4088130"/>
              <a:ext cx="499491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12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07118" y="4704874"/>
              <a:ext cx="13421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REAL-TIME API SCANS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00750" y="4000500"/>
              <a:ext cx="2286000" cy="104775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29325" y="4029075"/>
              <a:ext cx="2286000" cy="1047750"/>
            </a:xfrm>
            <a:prstGeom prst="rect">
              <a:avLst/>
            </a:prstGeom>
            <a:solidFill>
              <a:srgbClr val="FF5C8A">
                <a:alpha val="20000"/>
              </a:srgb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00750" y="4000500"/>
              <a:ext cx="2286000" cy="104775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45530" y="4088130"/>
              <a:ext cx="1027557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LIVE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78868" y="4704874"/>
              <a:ext cx="898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ARIZE TRACING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572500" y="4000500"/>
            <a:ext cx="2790825" cy="1076325"/>
            <a:chOff x="8572500" y="4000500"/>
            <a:chExt cx="2790825" cy="1076325"/>
          </a:xfrm>
        </p:grpSpPr>
        <p:sp>
          <p:nvSpPr>
            <p:cNvPr id="36" name="Rectangle 36"/>
            <p:cNvSpPr/>
            <p:nvPr/>
          </p:nvSpPr>
          <p:spPr>
            <a:xfrm>
              <a:off x="8572500" y="4000500"/>
              <a:ext cx="2762250" cy="104775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601075" y="4029075"/>
              <a:ext cx="2762250" cy="1047750"/>
            </a:xfrm>
            <a:prstGeom prst="rect">
              <a:avLst/>
            </a:prstGeom>
            <a:solidFill>
              <a:srgbClr val="FF5C8A">
                <a:alpha val="60000"/>
              </a:srgbClr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572500" y="4000500"/>
              <a:ext cx="2762250" cy="104775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799195" y="4236720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"Every portfolio has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99195" y="4427220"/>
              <a:ext cx="12170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a breaking point. We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99195" y="4617720"/>
              <a:ext cx="13250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expose it via debate."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57250" y="5334000"/>
            <a:ext cx="10477500" cy="400050"/>
            <a:chOff x="857250" y="5334000"/>
            <a:chExt cx="10477500" cy="400050"/>
          </a:xfrm>
        </p:grpSpPr>
        <p:sp>
          <p:nvSpPr>
            <p:cNvPr id="43" name="Rectangle 43"/>
            <p:cNvSpPr/>
            <p:nvPr/>
          </p:nvSpPr>
          <p:spPr>
            <a:xfrm>
              <a:off x="857250" y="5334000"/>
              <a:ext cx="10477500" cy="400050"/>
            </a:xfrm>
            <a:prstGeom prst="rect">
              <a:avLst/>
            </a:prstGeom>
            <a:solidFill>
              <a:srgbClr val="EAE2CC"/>
            </a:solidFill>
            <a:ln w="19050">
              <a:solidFill>
                <a:srgbClr val="1A1A1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34415" y="5468302"/>
              <a:ext cx="53634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TEAM: AEGIS | PRESENTER: MOOSA TALHA AL KASERI | IIM KOZHIKODE | BATCH 29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59118" y="6334125"/>
            <a:ext cx="11073765" cy="350044"/>
            <a:chOff x="559118" y="6334125"/>
            <a:chExt cx="11073765" cy="350044"/>
          </a:xfrm>
        </p:grpSpPr>
        <p:sp>
          <p:nvSpPr>
            <p:cNvPr id="46" name="Line 46"/>
            <p:cNvSpPr/>
            <p:nvPr/>
          </p:nvSpPr>
          <p:spPr>
            <a:xfrm>
              <a:off x="571500" y="63341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A1A1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59118" y="6486049"/>
              <a:ext cx="33271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BUILT WITH: OPENAI CODEX | NVIDIA NIM | ARIZE PHOENIX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841022" y="6486049"/>
              <a:ext cx="791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SLIDE 01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35" grpId="0"/>
      <p:bldP spid="42" grpId="0"/>
      <p:bldP spid="4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-8164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533400"/>
            <a:ext cx="12592050" cy="785812"/>
            <a:chOff x="571500" y="533400"/>
            <a:chExt cx="12592050" cy="785812"/>
          </a:xfrm>
        </p:grpSpPr>
        <p:sp>
          <p:nvSpPr>
            <p:cNvPr id="4" name="Rectangle 4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00075" y="561975"/>
              <a:ext cx="133350" cy="647700"/>
            </a:xfrm>
            <a:prstGeom prst="rect">
              <a:avLst/>
            </a:prstGeom>
            <a:solidFill>
              <a:srgbClr val="FF5C8A">
                <a:alpha val="70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580" y="544830"/>
              <a:ext cx="1233297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THE PROBLEM / PORTFOLIO GEOPOLITICAL BLIND SPOTS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2965" y="1105852"/>
              <a:ext cx="29390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01 · TAIL RISK BLINDSPOTS &amp; SILOED ANALYSIS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4478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1A1A1A"/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571500" y="1714500"/>
            <a:ext cx="6343459" cy="3338512"/>
            <a:chOff x="571500" y="1714500"/>
            <a:chExt cx="6343459" cy="3338512"/>
          </a:xfrm>
        </p:grpSpPr>
        <p:grpSp>
          <p:nvGrpSpPr>
            <p:cNvPr id="16" name="Group 16"/>
            <p:cNvGrpSpPr/>
            <p:nvPr/>
          </p:nvGrpSpPr>
          <p:grpSpPr>
            <a:xfrm>
              <a:off x="571500" y="1714500"/>
              <a:ext cx="6343459" cy="862012"/>
              <a:chOff x="571500" y="1714500"/>
              <a:chExt cx="6343459" cy="862012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1714500"/>
                <a:ext cx="381000" cy="381000"/>
              </a:xfrm>
              <a:prstGeom prst="rect">
                <a:avLst/>
              </a:prstGeom>
              <a:solidFill>
                <a:srgbClr val="1E4DBC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664520" y="1816418"/>
                <a:ext cx="1949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5EFE0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83945" y="1803082"/>
                <a:ext cx="207716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E4DBC"/>
                    </a:solidFill>
                    <a:latin typeface="Impact"/>
                    <a:ea typeface="Microsoft YaHei"/>
                    <a:cs typeface="Impact"/>
                  </a:rPr>
                  <a:t>MACRO SPEED DECAY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91565" y="2153602"/>
                <a:ext cx="582339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Traditional models take weeks to assess macro shocks. Geopolitical events compress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91565" y="2363152"/>
                <a:ext cx="464024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asset values in hours. Delay is an invitation to capital destruction.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571500" y="2952750"/>
              <a:ext cx="6105430" cy="862012"/>
              <a:chOff x="571500" y="2952750"/>
              <a:chExt cx="6105430" cy="862012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71500" y="2952750"/>
                <a:ext cx="381000" cy="381000"/>
              </a:xfrm>
              <a:prstGeom prst="rect">
                <a:avLst/>
              </a:prstGeom>
              <a:solidFill>
                <a:srgbClr val="FF5C8A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40892" y="305466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A1A1A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83945" y="3041332"/>
                <a:ext cx="212117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E4DBC"/>
                    </a:solidFill>
                    <a:latin typeface="Impact"/>
                    <a:ea typeface="Microsoft YaHei"/>
                    <a:cs typeface="Impact"/>
                  </a:rPr>
                  <a:t>LLM ECHO CHAMBERS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91565" y="3391852"/>
                <a:ext cx="52423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Single-perspective AI risk summaries suffer from severe confirmation bias.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91565" y="3601402"/>
                <a:ext cx="558536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Structured adversarial debate is mandatory to steel-manned extreme scenarios.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71500" y="4191000"/>
              <a:ext cx="5468350" cy="862012"/>
              <a:chOff x="571500" y="4191000"/>
              <a:chExt cx="5468350" cy="862012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71500" y="4191000"/>
                <a:ext cx="381000" cy="381000"/>
              </a:xfrm>
              <a:prstGeom prst="rect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40892" y="429291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5EFE0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83945" y="4279582"/>
                <a:ext cx="274824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E4DBC"/>
                    </a:solidFill>
                    <a:latin typeface="Impact"/>
                    <a:ea typeface="Microsoft YaHei"/>
                    <a:cs typeface="Impact"/>
                  </a:rPr>
                  <a:t>THE TELEMETRY BLACK BOX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91565" y="4630102"/>
                <a:ext cx="46822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Most agentic architectures run as unmonitored loops. Deploying live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91565" y="4839652"/>
                <a:ext cx="49482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stress-testing without auditable telemetry is a major operational risk.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6211324" y="1714500"/>
            <a:ext cx="6322993" cy="4286250"/>
            <a:chOff x="6211324" y="1714500"/>
            <a:chExt cx="6322993" cy="4286250"/>
          </a:xfrm>
        </p:grpSpPr>
        <p:sp>
          <p:nvSpPr>
            <p:cNvPr id="30" name="Rectangle 30"/>
            <p:cNvSpPr/>
            <p:nvPr/>
          </p:nvSpPr>
          <p:spPr>
            <a:xfrm>
              <a:off x="7239000" y="1714500"/>
              <a:ext cx="4381500" cy="22860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895957" y="1724025"/>
              <a:ext cx="4381500" cy="2286000"/>
            </a:xfrm>
            <a:prstGeom prst="rect">
              <a:avLst/>
            </a:prstGeom>
            <a:solidFill>
              <a:srgbClr val="1E4DBC">
                <a:alpha val="60000"/>
              </a:srgb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11324" y="1714500"/>
              <a:ext cx="4381500" cy="22860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33310" y="1794510"/>
              <a:ext cx="1767078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93%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3653" y="2905125"/>
              <a:ext cx="607066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OF FINANCIAL FIRMS CONCERNED ABOUT TAIL-RISK EXPOSURE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86216" y="3226118"/>
              <a:ext cx="46123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YET FEW HAVE SYSTEMATIC TOOLS TO MODEL REAL-TIME CRISES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13320" y="3617595"/>
              <a:ext cx="19190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E4DBC"/>
                  </a:solidFill>
                  <a:latin typeface="Consolas"/>
                  <a:ea typeface="Microsoft YaHei"/>
                  <a:cs typeface="Consolas"/>
                </a:rPr>
                <a:t>— INSTITUTIONAL RISK SURVEY 2026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239000" y="4286250"/>
              <a:ext cx="4381500" cy="1714500"/>
            </a:xfrm>
            <a:prstGeom prst="rect">
              <a:avLst/>
            </a:prstGeom>
            <a:solidFill>
              <a:srgbClr val="EAE2CC"/>
            </a:solidFill>
            <a:ln w="19050">
              <a:solidFill>
                <a:srgbClr val="1A1A1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05700" y="4505325"/>
              <a:ext cx="259842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THE SYSTEMIC OPPORTUNITY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12368" y="4847749"/>
              <a:ext cx="37822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No tool identifies specific Black Swan risks, validates them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12368" y="5057299"/>
              <a:ext cx="39772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adversarially, maps geographic propagation, models contagion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12368" y="5266849"/>
              <a:ext cx="39772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cascades, and computes distressed valuations transparently.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12368" y="5562124"/>
              <a:ext cx="29325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5C8A"/>
                  </a:solidFill>
                  <a:latin typeface="Consolas"/>
                  <a:ea typeface="Microsoft YaHei"/>
                  <a:cs typeface="Consolas"/>
                </a:rPr>
                <a:t>&gt; AEGIS CODEX RUNS THIS IN UNDER 60 SECONDS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61022" y="6572250"/>
            <a:ext cx="11069956" cy="250031"/>
            <a:chOff x="561022" y="6572250"/>
            <a:chExt cx="11069956" cy="250031"/>
          </a:xfrm>
        </p:grpSpPr>
        <p:sp>
          <p:nvSpPr>
            <p:cNvPr id="44" name="Line 44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A1A1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61022" y="6654641"/>
              <a:ext cx="22597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AEGIS CODEX — PROPRIETARY &amp; CONFIDENTIAL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933438" y="6654641"/>
              <a:ext cx="6975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SLIDE 02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533400"/>
            <a:ext cx="12232005" cy="785812"/>
            <a:chOff x="571500" y="533400"/>
            <a:chExt cx="12232005" cy="785812"/>
          </a:xfrm>
        </p:grpSpPr>
        <p:sp>
          <p:nvSpPr>
            <p:cNvPr id="4" name="Rectangle 4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00075" y="561975"/>
              <a:ext cx="133350" cy="647700"/>
            </a:xfrm>
            <a:prstGeom prst="rect">
              <a:avLst/>
            </a:prstGeom>
            <a:solidFill>
              <a:srgbClr val="FF5C8A">
                <a:alpha val="70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580" y="544830"/>
              <a:ext cx="1197292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PROPOSED SOLUTION &amp; JOURNEY / 4-STEP WATERFALL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2965" y="1105852"/>
              <a:ext cx="28970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02 · THE END-TO-END RISK WATERFALL FLOW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4478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1A1A1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619250"/>
            <a:ext cx="5048250" cy="333375"/>
          </a:xfrm>
          <a:prstGeom prst="rect">
            <a:avLst/>
          </a:prstGeom>
          <a:solidFill>
            <a:srgbClr val="1E4DB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01040" y="1724978"/>
            <a:ext cx="2276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EFE0"/>
                </a:solidFill>
                <a:latin typeface="Consolas"/>
                <a:ea typeface="Microsoft YaHei"/>
                <a:cs typeface="Consolas"/>
              </a:rPr>
              <a:t>PHASE 1: INTELLIGENCE GATHERING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71500" y="2095500"/>
            <a:ext cx="2409825" cy="981075"/>
            <a:chOff x="571500" y="2095500"/>
            <a:chExt cx="2409825" cy="981075"/>
          </a:xfrm>
        </p:grpSpPr>
        <p:sp>
          <p:nvSpPr>
            <p:cNvPr id="13" name="Rectangle 13"/>
            <p:cNvSpPr/>
            <p:nvPr/>
          </p:nvSpPr>
          <p:spPr>
            <a:xfrm>
              <a:off x="571500" y="2095500"/>
              <a:ext cx="2381250" cy="9525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0075" y="2124075"/>
              <a:ext cx="2381250" cy="952500"/>
            </a:xfrm>
            <a:prstGeom prst="rect">
              <a:avLst/>
            </a:prstGeom>
            <a:solidFill>
              <a:srgbClr val="1E4DBC">
                <a:alpha val="55000"/>
              </a:srgbClr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71500" y="2095500"/>
              <a:ext cx="2381250" cy="9525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7705" y="2202180"/>
              <a:ext cx="29137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01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2510" y="2270760"/>
              <a:ext cx="14146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PORTFOLIO INGEST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1992" y="2609374"/>
              <a:ext cx="1883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User imports asset watchlist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1992" y="2771299"/>
              <a:ext cx="14029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via CSV or text input.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238500" y="2095500"/>
            <a:ext cx="2409825" cy="981075"/>
            <a:chOff x="3238500" y="2095500"/>
            <a:chExt cx="2409825" cy="981075"/>
          </a:xfrm>
        </p:grpSpPr>
        <p:sp>
          <p:nvSpPr>
            <p:cNvPr id="21" name="Rectangle 21"/>
            <p:cNvSpPr/>
            <p:nvPr/>
          </p:nvSpPr>
          <p:spPr>
            <a:xfrm>
              <a:off x="3238500" y="2095500"/>
              <a:ext cx="2381250" cy="9525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267075" y="2124075"/>
              <a:ext cx="2381250" cy="952500"/>
            </a:xfrm>
            <a:prstGeom prst="rect">
              <a:avLst/>
            </a:prstGeom>
            <a:solidFill>
              <a:srgbClr val="FF5C8A">
                <a:alpha val="55000"/>
              </a:srgbClr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238500" y="2095500"/>
              <a:ext cx="2381250" cy="9525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54705" y="2202180"/>
              <a:ext cx="36137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99510" y="2270760"/>
              <a:ext cx="14066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5EFE0"/>
                  </a:solidFill>
                  <a:latin typeface="Impact"/>
                  <a:ea typeface="Microsoft YaHei"/>
                  <a:cs typeface="Impact"/>
                </a:rPr>
                <a:t>WATCHTOWER SCAN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68992" y="2609374"/>
              <a:ext cx="16889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Searches Tavily &amp; yFinance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68992" y="2771299"/>
              <a:ext cx="20530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to output localized Chaos Index.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3238500"/>
            <a:ext cx="2409825" cy="981075"/>
            <a:chOff x="571500" y="3238500"/>
            <a:chExt cx="2409825" cy="981075"/>
          </a:xfrm>
        </p:grpSpPr>
        <p:sp>
          <p:nvSpPr>
            <p:cNvPr id="29" name="Rectangle 29"/>
            <p:cNvSpPr/>
            <p:nvPr/>
          </p:nvSpPr>
          <p:spPr>
            <a:xfrm>
              <a:off x="571500" y="3238500"/>
              <a:ext cx="2381250" cy="95250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0075" y="3267075"/>
              <a:ext cx="2381250" cy="952500"/>
            </a:xfrm>
            <a:prstGeom prst="rect">
              <a:avLst/>
            </a:prstGeom>
            <a:solidFill>
              <a:srgbClr val="E8A02E">
                <a:alpha val="30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71500" y="3238500"/>
              <a:ext cx="2381250" cy="95250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7705" y="3345180"/>
              <a:ext cx="36137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03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2510" y="3413760"/>
              <a:ext cx="12466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TRIBUNAL SWARM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1992" y="3752374"/>
              <a:ext cx="17279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Bear &amp; Bull Analysts debate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1992" y="3914299"/>
              <a:ext cx="1929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scenarios with Judge verdict.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238500" y="3238500"/>
            <a:ext cx="2409825" cy="981075"/>
            <a:chOff x="3238500" y="3238500"/>
            <a:chExt cx="2409825" cy="981075"/>
          </a:xfrm>
        </p:grpSpPr>
        <p:sp>
          <p:nvSpPr>
            <p:cNvPr id="37" name="Rectangle 37"/>
            <p:cNvSpPr/>
            <p:nvPr/>
          </p:nvSpPr>
          <p:spPr>
            <a:xfrm>
              <a:off x="3238500" y="3238500"/>
              <a:ext cx="2381250" cy="95250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3267075" y="3267075"/>
              <a:ext cx="2381250" cy="952500"/>
            </a:xfrm>
            <a:prstGeom prst="rect">
              <a:avLst/>
            </a:prstGeom>
            <a:solidFill>
              <a:srgbClr val="1E4DBC">
                <a:alpha val="12000"/>
              </a:srgbClr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238500" y="3238500"/>
              <a:ext cx="2381250" cy="95250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354705" y="3345180"/>
              <a:ext cx="36137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04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699510" y="3413760"/>
              <a:ext cx="13026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VALUATION PATCH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68992" y="3752374"/>
              <a:ext cx="19230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Generates model stress patch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368992" y="3914299"/>
              <a:ext cx="21375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and Investment Committee memo.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6191250" y="1619250"/>
            <a:ext cx="5429250" cy="333375"/>
          </a:xfrm>
          <a:prstGeom prst="rect">
            <a:avLst/>
          </a:prstGeom>
          <a:solidFill>
            <a:srgbClr val="FF5C8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320790" y="1724978"/>
            <a:ext cx="28861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Consolas"/>
                <a:ea typeface="Microsoft YaHei"/>
                <a:cs typeface="Consolas"/>
              </a:rPr>
              <a:t>PHASE 2: ADVERSARIAL ANALYSIS &amp; HEDGING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6191250" y="2095500"/>
            <a:ext cx="5457825" cy="838200"/>
            <a:chOff x="6191250" y="2095500"/>
            <a:chExt cx="5457825" cy="838200"/>
          </a:xfrm>
        </p:grpSpPr>
        <p:sp>
          <p:nvSpPr>
            <p:cNvPr id="47" name="Rectangle 47"/>
            <p:cNvSpPr/>
            <p:nvPr/>
          </p:nvSpPr>
          <p:spPr>
            <a:xfrm>
              <a:off x="6191250" y="2095500"/>
              <a:ext cx="5429250" cy="809625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19825" y="2124075"/>
              <a:ext cx="5429250" cy="809625"/>
            </a:xfrm>
            <a:prstGeom prst="rect">
              <a:avLst/>
            </a:prstGeom>
            <a:solidFill>
              <a:srgbClr val="FF5C8A">
                <a:alpha val="55000"/>
              </a:srgbClr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191250" y="2095500"/>
              <a:ext cx="5429250" cy="809625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7460" y="2165985"/>
              <a:ext cx="4646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05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93230" y="2254568"/>
              <a:ext cx="16454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5EFE0"/>
                  </a:solidFill>
                  <a:latin typeface="Impact"/>
                  <a:ea typeface="Microsoft YaHei"/>
                  <a:cs typeface="Impact"/>
                </a:rPr>
                <a:t>TELEMETRY RECORD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97040" y="2534602"/>
              <a:ext cx="24279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Traces all prompt inputs, outputs,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97040" y="2706052"/>
              <a:ext cx="27640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and span latencies live to Arize Phoenix.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191250" y="3048000"/>
            <a:ext cx="5457825" cy="838200"/>
            <a:chOff x="6191250" y="3048000"/>
            <a:chExt cx="5457825" cy="838200"/>
          </a:xfrm>
        </p:grpSpPr>
        <p:sp>
          <p:nvSpPr>
            <p:cNvPr id="55" name="Rectangle 55"/>
            <p:cNvSpPr/>
            <p:nvPr/>
          </p:nvSpPr>
          <p:spPr>
            <a:xfrm>
              <a:off x="6191250" y="3048000"/>
              <a:ext cx="5429250" cy="809625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19825" y="3076575"/>
              <a:ext cx="5429250" cy="809625"/>
            </a:xfrm>
            <a:prstGeom prst="rect">
              <a:avLst/>
            </a:prstGeom>
            <a:solidFill>
              <a:srgbClr val="1E4DBC">
                <a:alpha val="55000"/>
              </a:srgbClr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191250" y="3048000"/>
              <a:ext cx="5429250" cy="809625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47460" y="3118485"/>
              <a:ext cx="4646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06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93230" y="3207068"/>
              <a:ext cx="15374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PORTFOLIO HEDGE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97040" y="3487102"/>
              <a:ext cx="20849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Executes option-hedging rules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97040" y="3658552"/>
              <a:ext cx="27080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(protective puts) to preserve capital.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191250" y="4000500"/>
            <a:ext cx="5457825" cy="838200"/>
            <a:chOff x="6191250" y="4000500"/>
            <a:chExt cx="5457825" cy="838200"/>
          </a:xfrm>
        </p:grpSpPr>
        <p:sp>
          <p:nvSpPr>
            <p:cNvPr id="63" name="Rectangle 63"/>
            <p:cNvSpPr/>
            <p:nvPr/>
          </p:nvSpPr>
          <p:spPr>
            <a:xfrm>
              <a:off x="6191250" y="4000500"/>
              <a:ext cx="5429250" cy="809625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19825" y="4029075"/>
              <a:ext cx="5429250" cy="809625"/>
            </a:xfrm>
            <a:prstGeom prst="rect">
              <a:avLst/>
            </a:prstGeom>
            <a:solidFill>
              <a:srgbClr val="EAE2CC">
                <a:alpha val="50000"/>
              </a:srgbClr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191250" y="4000500"/>
              <a:ext cx="5429250" cy="809625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47460" y="4070985"/>
              <a:ext cx="4646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07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793230" y="4159568"/>
              <a:ext cx="16544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HUMAN REVIEW GATE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797040" y="4439602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Investment Committee reviews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797040" y="4611052"/>
              <a:ext cx="27290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and approves distressed WACC changes.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5000625"/>
            <a:ext cx="11049000" cy="952500"/>
            <a:chOff x="571500" y="5000625"/>
            <a:chExt cx="11049000" cy="952500"/>
          </a:xfrm>
        </p:grpSpPr>
        <p:sp>
          <p:nvSpPr>
            <p:cNvPr id="71" name="Rectangle 71"/>
            <p:cNvSpPr/>
            <p:nvPr/>
          </p:nvSpPr>
          <p:spPr>
            <a:xfrm>
              <a:off x="571500" y="5000625"/>
              <a:ext cx="11049000" cy="952500"/>
            </a:xfrm>
            <a:prstGeom prst="rect">
              <a:avLst/>
            </a:prstGeom>
            <a:solidFill>
              <a:srgbClr val="EAE2CC"/>
            </a:solidFill>
            <a:ln w="19050">
              <a:solidFill>
                <a:srgbClr val="1A1A1A"/>
              </a:solidFill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76288" y="5176838"/>
              <a:ext cx="200025" cy="200025"/>
              <a:chOff x="776288" y="5176838"/>
              <a:chExt cx="200025" cy="200025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76288" y="5176838"/>
                <a:ext cx="200025" cy="12521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25215">
                    <a:moveTo>
                      <a:pt x="200025" y="0"/>
                    </a:moveTo>
                    <a:lnTo>
                      <a:pt x="0" y="0"/>
                    </a:lnTo>
                    <a:lnTo>
                      <a:pt x="0" y="85725"/>
                    </a:lnTo>
                    <a:lnTo>
                      <a:pt x="34032" y="85725"/>
                    </a:lnTo>
                    <a:lnTo>
                      <a:pt x="55464" y="42862"/>
                    </a:lnTo>
                    <a:lnTo>
                      <a:pt x="87411" y="42862"/>
                    </a:lnTo>
                    <a:lnTo>
                      <a:pt x="128588" y="125215"/>
                    </a:lnTo>
                    <a:lnTo>
                      <a:pt x="148333" y="85725"/>
                    </a:lnTo>
                    <a:lnTo>
                      <a:pt x="200025" y="85725"/>
                    </a:lnTo>
                    <a:lnTo>
                      <a:pt x="200025" y="0"/>
                    </a:lnTo>
                    <a:close/>
                  </a:path>
                </a:pathLst>
              </a:custGeom>
              <a:solidFill>
                <a:srgbClr val="1E4DBC"/>
              </a:solidFill>
              <a:ln>
                <a:noFill/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76288" y="5251648"/>
                <a:ext cx="200025" cy="12521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25215">
                    <a:moveTo>
                      <a:pt x="200025" y="39490"/>
                    </a:moveTo>
                    <a:lnTo>
                      <a:pt x="165992" y="39490"/>
                    </a:lnTo>
                    <a:lnTo>
                      <a:pt x="144561" y="82352"/>
                    </a:lnTo>
                    <a:lnTo>
                      <a:pt x="112614" y="82352"/>
                    </a:lnTo>
                    <a:lnTo>
                      <a:pt x="71438" y="0"/>
                    </a:lnTo>
                    <a:lnTo>
                      <a:pt x="51693" y="39490"/>
                    </a:lnTo>
                    <a:lnTo>
                      <a:pt x="0" y="39490"/>
                    </a:lnTo>
                    <a:lnTo>
                      <a:pt x="0" y="125215"/>
                    </a:lnTo>
                    <a:lnTo>
                      <a:pt x="200025" y="125215"/>
                    </a:lnTo>
                    <a:lnTo>
                      <a:pt x="200025" y="39490"/>
                    </a:lnTo>
                    <a:close/>
                  </a:path>
                </a:pathLst>
              </a:custGeom>
              <a:solidFill>
                <a:srgbClr val="1E4DBC"/>
              </a:solidFill>
              <a:ln>
                <a:noFill/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82040" y="5201602"/>
              <a:ext cx="63117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4DBC"/>
                  </a:solidFill>
                  <a:latin typeface="Consolas"/>
                  <a:ea typeface="Microsoft YaHei"/>
                  <a:cs typeface="Consolas"/>
                </a:rPr>
                <a:t>⚡ 3 SWARM AGENTS · OPENAI CODEX + NVIDIA NIM ORCHESTRATION · ARIZE PHOENIX TELEMETRY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82992" y="5466874"/>
              <a:ext cx="62720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Primary models: OpenAI Codex endpoint for code generation, Nvidia NIM Llama 3.3 70B for debates.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82992" y="5657374"/>
              <a:ext cx="63435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Observability link: Synchronous OTel trace shipper logs agent steps directly to Arize Phoenix SaaS.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61022" y="6572250"/>
            <a:ext cx="11069956" cy="250031"/>
            <a:chOff x="561022" y="6572250"/>
            <a:chExt cx="11069956" cy="250031"/>
          </a:xfrm>
        </p:grpSpPr>
        <p:sp>
          <p:nvSpPr>
            <p:cNvPr id="79" name="Line 79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A1A1A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61022" y="6654641"/>
              <a:ext cx="22597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AEGIS CODEX — PROPRIETARY &amp; CONFIDENTIAL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933438" y="6654641"/>
              <a:ext cx="6975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SLIDE 03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8" grpId="0"/>
      <p:bldP spid="36" grpId="0"/>
      <p:bldP spid="44" grpId="0"/>
      <p:bldP spid="54" grpId="0"/>
      <p:bldP spid="62" grpId="0"/>
      <p:bldP spid="70" grpId="0"/>
      <p:bldP spid="7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533400"/>
            <a:ext cx="8919591" cy="785812"/>
            <a:chOff x="571500" y="533400"/>
            <a:chExt cx="8919591" cy="785812"/>
          </a:xfrm>
        </p:grpSpPr>
        <p:sp>
          <p:nvSpPr>
            <p:cNvPr id="4" name="Rectangle 4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00075" y="561975"/>
              <a:ext cx="133350" cy="647700"/>
            </a:xfrm>
            <a:prstGeom prst="rect">
              <a:avLst/>
            </a:prstGeom>
            <a:solidFill>
              <a:srgbClr val="FF5C8A">
                <a:alpha val="70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580" y="544830"/>
              <a:ext cx="8660511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MULTI-AGENT SWARM / CO-ORDINATION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2965" y="1105852"/>
              <a:ext cx="36741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03 · 3 SWARM AGENTS + HUMAN REVIEW + CODEX PATCHING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4478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1A1A1A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571500" y="1666875"/>
            <a:ext cx="2076450" cy="3267075"/>
            <a:chOff x="571500" y="1666875"/>
            <a:chExt cx="2076450" cy="3267075"/>
          </a:xfrm>
        </p:grpSpPr>
        <p:sp>
          <p:nvSpPr>
            <p:cNvPr id="11" name="Rectangle 11"/>
            <p:cNvSpPr/>
            <p:nvPr/>
          </p:nvSpPr>
          <p:spPr>
            <a:xfrm>
              <a:off x="571500" y="1666875"/>
              <a:ext cx="2047875" cy="32385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0075" y="1695450"/>
              <a:ext cx="2047875" cy="3238500"/>
            </a:xfrm>
            <a:prstGeom prst="rect">
              <a:avLst/>
            </a:prstGeom>
            <a:solidFill>
              <a:srgbClr val="FF5C8A">
                <a:alpha val="55000"/>
              </a:srgb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66875"/>
              <a:ext cx="2047875" cy="32385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7230" y="1902142"/>
              <a:ext cx="11774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BEAR ANALYST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14375" y="2143125"/>
              <a:ext cx="1000125" cy="209550"/>
            </a:xfrm>
            <a:prstGeom prst="rect">
              <a:avLst/>
            </a:prstGeom>
            <a:solidFill>
              <a:srgbClr val="F5EFE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70572" y="2206466"/>
              <a:ext cx="73714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PROSECUTION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2945" y="2426970"/>
              <a:ext cx="8149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Temp: T = 0.6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14375" y="2638425"/>
              <a:ext cx="1666875" cy="9525"/>
            </a:xfrm>
            <a:custGeom>
              <a:avLst/>
              <a:gdLst/>
              <a:ahLst/>
              <a:cxnLst/>
              <a:rect l="l" t="t" r="r" b="b"/>
              <a:pathLst>
                <a:path w="1666875" h="9525">
                  <a:moveTo>
                    <a:pt x="0" y="0"/>
                  </a:moveTo>
                  <a:lnTo>
                    <a:pt x="1666875" y="0"/>
                  </a:lnTo>
                </a:path>
              </a:pathLst>
            </a:custGeom>
            <a:noFill/>
            <a:ln w="9525">
              <a:solidFill>
                <a:srgbClr val="F5EFE0">
                  <a:alpha val="30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1992" y="2799874"/>
              <a:ext cx="18124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Argues worst-case scenario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1992" y="2990374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with historical precedents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1992" y="3180874"/>
              <a:ext cx="17084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and catastrophic framing.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1992" y="3371374"/>
              <a:ext cx="16889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Pushes WACC premiums and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1992" y="3561874"/>
              <a:ext cx="17409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revenue haircuts upwards.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1992" y="3752374"/>
              <a:ext cx="12534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Acts as adversarial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1992" y="3942874"/>
              <a:ext cx="14614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counterweight to bull.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809875" y="1666875"/>
            <a:ext cx="2076450" cy="3267075"/>
            <a:chOff x="2809875" y="1666875"/>
            <a:chExt cx="2076450" cy="3267075"/>
          </a:xfrm>
        </p:grpSpPr>
        <p:sp>
          <p:nvSpPr>
            <p:cNvPr id="27" name="Rectangle 27"/>
            <p:cNvSpPr/>
            <p:nvPr/>
          </p:nvSpPr>
          <p:spPr>
            <a:xfrm>
              <a:off x="2809875" y="1666875"/>
              <a:ext cx="2047875" cy="32385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2838450" y="1695450"/>
              <a:ext cx="2047875" cy="3238500"/>
            </a:xfrm>
            <a:prstGeom prst="rect">
              <a:avLst/>
            </a:prstGeom>
            <a:solidFill>
              <a:srgbClr val="1E4DBC">
                <a:alpha val="55000"/>
              </a:srgbClr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809875" y="1666875"/>
              <a:ext cx="2047875" cy="32385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935605" y="1902142"/>
              <a:ext cx="11774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BULL ANALYST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52750" y="2143125"/>
              <a:ext cx="1000125" cy="20955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008948" y="2206466"/>
              <a:ext cx="4656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DEFENSE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41320" y="2426970"/>
              <a:ext cx="8149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Temp: T = 0.6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2952750" y="2638425"/>
              <a:ext cx="1666875" cy="9525"/>
            </a:xfrm>
            <a:custGeom>
              <a:avLst/>
              <a:gdLst/>
              <a:ahLst/>
              <a:cxnLst/>
              <a:rect l="l" t="t" r="r" b="b"/>
              <a:pathLst>
                <a:path w="1666875" h="9525">
                  <a:moveTo>
                    <a:pt x="0" y="0"/>
                  </a:moveTo>
                  <a:lnTo>
                    <a:pt x="1666875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940368" y="279987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Challenges evidence,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40368" y="2990374"/>
              <a:ext cx="18904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presents mitigating factors,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40368" y="3180874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and argues the market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940368" y="3371374"/>
              <a:ext cx="14354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has already priced the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40368" y="3561874"/>
              <a:ext cx="1318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risk in. Pushes WACC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940368" y="3752374"/>
              <a:ext cx="1448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premiums and severity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940368" y="394287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metrics downwards.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048250" y="1666875"/>
            <a:ext cx="2076450" cy="3267075"/>
            <a:chOff x="5048250" y="1666875"/>
            <a:chExt cx="2076450" cy="3267075"/>
          </a:xfrm>
        </p:grpSpPr>
        <p:sp>
          <p:nvSpPr>
            <p:cNvPr id="43" name="Rectangle 43"/>
            <p:cNvSpPr/>
            <p:nvPr/>
          </p:nvSpPr>
          <p:spPr>
            <a:xfrm>
              <a:off x="5048250" y="1666875"/>
              <a:ext cx="2047875" cy="323850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076825" y="1695450"/>
              <a:ext cx="2047875" cy="3238500"/>
            </a:xfrm>
            <a:prstGeom prst="rect">
              <a:avLst/>
            </a:prstGeom>
            <a:solidFill>
              <a:srgbClr val="E8A02E">
                <a:alpha val="30000"/>
              </a:srgbClr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048250" y="1666875"/>
              <a:ext cx="2047875" cy="323850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173980" y="1902142"/>
              <a:ext cx="13754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FRACTURE JUDGE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191125" y="2143125"/>
              <a:ext cx="1000125" cy="20955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47322" y="2206466"/>
              <a:ext cx="76024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FINAL VERDICT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179695" y="2426970"/>
              <a:ext cx="8149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Temp: T = 0.3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5191125" y="2638425"/>
              <a:ext cx="1666875" cy="9525"/>
            </a:xfrm>
            <a:custGeom>
              <a:avLst/>
              <a:gdLst/>
              <a:ahLst/>
              <a:cxnLst/>
              <a:rect l="l" t="t" r="r" b="b"/>
              <a:pathLst>
                <a:path w="1666875" h="9525">
                  <a:moveTo>
                    <a:pt x="0" y="0"/>
                  </a:moveTo>
                  <a:lnTo>
                    <a:pt x="1666875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178742" y="2799874"/>
              <a:ext cx="12209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Low-temperature,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178742" y="2990374"/>
              <a:ext cx="15784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high-conviction arbiter.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178742" y="3180874"/>
              <a:ext cx="1318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Synthesizes debate.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178742" y="3371374"/>
              <a:ext cx="15329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Computes final severity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178742" y="3561874"/>
              <a:ext cx="1857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score and extracts proposed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178742" y="3752374"/>
              <a:ext cx="17084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stress assumptions to the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178742" y="3942874"/>
              <a:ext cx="11104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valuation engine.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286625" y="1666875"/>
            <a:ext cx="2076450" cy="3267075"/>
            <a:chOff x="7286625" y="1666875"/>
            <a:chExt cx="2076450" cy="3267075"/>
          </a:xfrm>
        </p:grpSpPr>
        <p:sp>
          <p:nvSpPr>
            <p:cNvPr id="59" name="Rectangle 59"/>
            <p:cNvSpPr/>
            <p:nvPr/>
          </p:nvSpPr>
          <p:spPr>
            <a:xfrm>
              <a:off x="7286625" y="1666875"/>
              <a:ext cx="2047875" cy="323850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315200" y="1695450"/>
              <a:ext cx="2047875" cy="3238500"/>
            </a:xfrm>
            <a:prstGeom prst="rect">
              <a:avLst/>
            </a:prstGeom>
            <a:solidFill>
              <a:srgbClr val="1E4DBC">
                <a:alpha val="12000"/>
              </a:srgbClr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286625" y="1666875"/>
              <a:ext cx="2047875" cy="323850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412355" y="1902142"/>
              <a:ext cx="16544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HUMAN REVIEW GATE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429500" y="2143125"/>
              <a:ext cx="1000125" cy="20955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485698" y="2206466"/>
              <a:ext cx="8526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EXECUTIVE GATE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18070" y="2426970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Type: PM OVERRIDE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7429500" y="2638425"/>
              <a:ext cx="1666875" cy="9525"/>
            </a:xfrm>
            <a:custGeom>
              <a:avLst/>
              <a:gdLst/>
              <a:ahLst/>
              <a:cxnLst/>
              <a:rect l="l" t="t" r="r" b="b"/>
              <a:pathLst>
                <a:path w="1666875" h="9525">
                  <a:moveTo>
                    <a:pt x="0" y="0"/>
                  </a:moveTo>
                  <a:lnTo>
                    <a:pt x="1666875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417118" y="2799874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Pauses automation for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417118" y="2990374"/>
              <a:ext cx="12859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executive override.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17118" y="3180874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PM reviews the tribunal's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417118" y="3371374"/>
              <a:ext cx="1500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consensus and selects: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17118" y="3561874"/>
              <a:ext cx="15719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Approve, Soften (-15%),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17118" y="3752374"/>
              <a:ext cx="13574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or Dismiss, to adjust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417118" y="3942874"/>
              <a:ext cx="1318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valuations manually.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525000" y="1666875"/>
            <a:ext cx="2076450" cy="3267075"/>
            <a:chOff x="9525000" y="1666875"/>
            <a:chExt cx="2076450" cy="3267075"/>
          </a:xfrm>
        </p:grpSpPr>
        <p:sp>
          <p:nvSpPr>
            <p:cNvPr id="75" name="Rectangle 75"/>
            <p:cNvSpPr/>
            <p:nvPr/>
          </p:nvSpPr>
          <p:spPr>
            <a:xfrm>
              <a:off x="9525000" y="1666875"/>
              <a:ext cx="2047875" cy="32385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9553575" y="1695450"/>
              <a:ext cx="2047875" cy="3238500"/>
            </a:xfrm>
            <a:prstGeom prst="rect">
              <a:avLst/>
            </a:prstGeom>
            <a:solidFill>
              <a:srgbClr val="E8A02E">
                <a:alpha val="40000"/>
              </a:srgbClr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9525000" y="1666875"/>
              <a:ext cx="2047875" cy="32385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650730" y="1902142"/>
              <a:ext cx="13664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5EFE0"/>
                  </a:solidFill>
                  <a:latin typeface="Impact"/>
                  <a:ea typeface="Microsoft YaHei"/>
                  <a:cs typeface="Impact"/>
                </a:rPr>
                <a:t>CODEX PATCHING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9667875" y="2143125"/>
              <a:ext cx="1000125" cy="209550"/>
            </a:xfrm>
            <a:prstGeom prst="rect">
              <a:avLst/>
            </a:prstGeom>
            <a:solidFill>
              <a:srgbClr val="F5EFE0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724072" y="2206466"/>
              <a:ext cx="9623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CODE GENERATION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656445" y="2426970"/>
              <a:ext cx="8029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Model: CODEX</a:t>
              </a:r>
            </a:p>
          </p:txBody>
        </p:sp>
        <p:sp>
          <p:nvSpPr>
            <p:cNvPr id="82" name="Line 82"/>
            <p:cNvSpPr/>
            <p:nvPr/>
          </p:nvSpPr>
          <p:spPr>
            <a:xfrm>
              <a:off x="9667875" y="2638425"/>
              <a:ext cx="1666875" cy="9525"/>
            </a:xfrm>
            <a:custGeom>
              <a:avLst/>
              <a:gdLst/>
              <a:ahLst/>
              <a:cxnLst/>
              <a:rect l="l" t="t" r="r" b="b"/>
              <a:pathLst>
                <a:path w="1666875" h="9525">
                  <a:moveTo>
                    <a:pt x="0" y="0"/>
                  </a:moveTo>
                  <a:lnTo>
                    <a:pt x="1666875" y="0"/>
                  </a:lnTo>
                </a:path>
              </a:pathLst>
            </a:custGeom>
            <a:noFill/>
            <a:ln w="9525">
              <a:solidFill>
                <a:srgbClr val="F5EFE0">
                  <a:alpha val="30000"/>
                </a:srgbClr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655492" y="2799874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Auto-generates a Python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655492" y="2990374"/>
              <a:ext cx="1493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stress module subclass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655492" y="3180874"/>
              <a:ext cx="1389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stub via OpenAI Codex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655492" y="337137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to dynamically inject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655492" y="3561874"/>
              <a:ext cx="13639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stress variables into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655492" y="3752374"/>
              <a:ext cx="13639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the valuation engine.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571500" y="5095875"/>
            <a:ext cx="11049000" cy="857250"/>
            <a:chOff x="571500" y="5095875"/>
            <a:chExt cx="11049000" cy="857250"/>
          </a:xfrm>
        </p:grpSpPr>
        <p:sp>
          <p:nvSpPr>
            <p:cNvPr id="90" name="Rectangle 90"/>
            <p:cNvSpPr/>
            <p:nvPr/>
          </p:nvSpPr>
          <p:spPr>
            <a:xfrm>
              <a:off x="571500" y="5095875"/>
              <a:ext cx="11049000" cy="857250"/>
            </a:xfrm>
            <a:prstGeom prst="rect">
              <a:avLst/>
            </a:prstGeom>
            <a:solidFill>
              <a:srgbClr val="EAE2CC"/>
            </a:solidFill>
            <a:ln w="19050">
              <a:solidFill>
                <a:srgbClr val="1A1A1A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95338" y="5279231"/>
              <a:ext cx="45291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WHY ADVERSARIAL SWARMS? // STRENGTHS VS. SINGLE-AGENT BIAS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97242" y="5514499"/>
              <a:ext cx="90218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Single-agent analysis always creates severe confirmation bias. Adversarial architectures force steel-manning before judgement is passed.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97242" y="5676424"/>
              <a:ext cx="76502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Mimics institutional Investment Committee (IC) processes: Research Analyst discovery → IC Debate → final PM decision.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561022" y="6572250"/>
            <a:ext cx="11069956" cy="250031"/>
            <a:chOff x="561022" y="6572250"/>
            <a:chExt cx="11069956" cy="250031"/>
          </a:xfrm>
        </p:grpSpPr>
        <p:sp>
          <p:nvSpPr>
            <p:cNvPr id="95" name="Line 95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A1A1A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561022" y="6654641"/>
              <a:ext cx="22597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AEGIS CODEX — PROPRIETARY &amp; CONFIDENTIAL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933438" y="6654641"/>
              <a:ext cx="6975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SLIDE 04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2" grpId="0"/>
      <p:bldP spid="58" grpId="0"/>
      <p:bldP spid="74" grpId="0"/>
      <p:bldP spid="89" grpId="0"/>
      <p:bldP spid="9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533400"/>
            <a:ext cx="10671810" cy="785812"/>
            <a:chOff x="571500" y="533400"/>
            <a:chExt cx="10671810" cy="785812"/>
          </a:xfrm>
        </p:grpSpPr>
        <p:sp>
          <p:nvSpPr>
            <p:cNvPr id="4" name="Rectangle 4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00075" y="561975"/>
              <a:ext cx="133350" cy="647700"/>
            </a:xfrm>
            <a:prstGeom prst="rect">
              <a:avLst/>
            </a:prstGeom>
            <a:solidFill>
              <a:srgbClr val="FF5C8A">
                <a:alpha val="70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580" y="544830"/>
              <a:ext cx="1041273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TECHNOLOGY STACK / PLATFORM INTEGRATIONS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2965" y="1105852"/>
              <a:ext cx="36251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04 · ORCHESTRATION, OBSERVABILITY &amp; COMPUTE STACK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4478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1A1A1A"/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571500" y="1714500"/>
            <a:ext cx="3457575" cy="1314450"/>
            <a:chOff x="571500" y="1714500"/>
            <a:chExt cx="3457575" cy="1314450"/>
          </a:xfrm>
        </p:grpSpPr>
        <p:sp>
          <p:nvSpPr>
            <p:cNvPr id="11" name="Rectangle 11"/>
            <p:cNvSpPr/>
            <p:nvPr/>
          </p:nvSpPr>
          <p:spPr>
            <a:xfrm>
              <a:off x="571500" y="1714500"/>
              <a:ext cx="3429000" cy="1285875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0075" y="1743075"/>
              <a:ext cx="3429000" cy="1285875"/>
            </a:xfrm>
            <a:prstGeom prst="rect">
              <a:avLst/>
            </a:prstGeom>
            <a:solidFill>
              <a:srgbClr val="FF5C8A">
                <a:alpha val="55000"/>
              </a:srgb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714500"/>
              <a:ext cx="3429000" cy="1285875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2950" y="1857375"/>
              <a:ext cx="14982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ORCHESTRATION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9618" y="2123599"/>
              <a:ext cx="16834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OpenAI Codex + Nvidia NIM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762000" y="23241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F5EFE0">
                  <a:alpha val="3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9618" y="2418874"/>
              <a:ext cx="29696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● Primary Codex endpoint for model patch code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9618" y="2609374"/>
              <a:ext cx="31646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● Failover to Nvidia NIM Llama 3.3 70B for debates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381500" y="1714500"/>
            <a:ext cx="3457575" cy="1314450"/>
            <a:chOff x="4381500" y="1714500"/>
            <a:chExt cx="3457575" cy="1314450"/>
          </a:xfrm>
        </p:grpSpPr>
        <p:sp>
          <p:nvSpPr>
            <p:cNvPr id="20" name="Rectangle 20"/>
            <p:cNvSpPr/>
            <p:nvPr/>
          </p:nvSpPr>
          <p:spPr>
            <a:xfrm>
              <a:off x="4381500" y="1714500"/>
              <a:ext cx="3429000" cy="1285875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10075" y="1743075"/>
              <a:ext cx="3429000" cy="1285875"/>
            </a:xfrm>
            <a:prstGeom prst="rect">
              <a:avLst/>
            </a:prstGeom>
            <a:solidFill>
              <a:srgbClr val="1E4DBC">
                <a:alpha val="55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81500" y="1714500"/>
              <a:ext cx="3429000" cy="1285875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52950" y="1857375"/>
              <a:ext cx="14082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OBSERVABILITY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59618" y="2123599"/>
              <a:ext cx="13831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Arize Phoenix (OTel)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4572000" y="23241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59618" y="2418874"/>
              <a:ext cx="28656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Logs spans, inputs, &amp; prompt token counts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59618" y="2609374"/>
              <a:ext cx="30541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Synchronous trace shipper for serverless dev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191500" y="1714500"/>
            <a:ext cx="3457575" cy="1314450"/>
            <a:chOff x="8191500" y="1714500"/>
            <a:chExt cx="3457575" cy="1314450"/>
          </a:xfrm>
        </p:grpSpPr>
        <p:sp>
          <p:nvSpPr>
            <p:cNvPr id="29" name="Rectangle 29"/>
            <p:cNvSpPr/>
            <p:nvPr/>
          </p:nvSpPr>
          <p:spPr>
            <a:xfrm>
              <a:off x="8191500" y="1714500"/>
              <a:ext cx="3429000" cy="1285875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220075" y="1743075"/>
              <a:ext cx="3429000" cy="1285875"/>
            </a:xfrm>
            <a:prstGeom prst="rect">
              <a:avLst/>
            </a:prstGeom>
            <a:solidFill>
              <a:srgbClr val="E8A02E">
                <a:alpha val="30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191500" y="1714500"/>
              <a:ext cx="3429000" cy="1285875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62950" y="1857375"/>
              <a:ext cx="151828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DATA GROUNDING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69618" y="2123599"/>
              <a:ext cx="16220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Tavily Search + yFinance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382000" y="23241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69618" y="2418874"/>
              <a:ext cx="31061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Live geopolitical news feeds avoid hallucination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69618" y="2609374"/>
              <a:ext cx="29761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yFinance pulls quotes &amp; historical drawdowns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3333750"/>
            <a:ext cx="3457575" cy="1314450"/>
            <a:chOff x="571500" y="3333750"/>
            <a:chExt cx="3457575" cy="1314450"/>
          </a:xfrm>
        </p:grpSpPr>
        <p:sp>
          <p:nvSpPr>
            <p:cNvPr id="38" name="Rectangle 38"/>
            <p:cNvSpPr/>
            <p:nvPr/>
          </p:nvSpPr>
          <p:spPr>
            <a:xfrm>
              <a:off x="571500" y="3333750"/>
              <a:ext cx="3429000" cy="1285875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0075" y="3362325"/>
              <a:ext cx="3429000" cy="1285875"/>
            </a:xfrm>
            <a:prstGeom prst="rect">
              <a:avLst/>
            </a:prstGeom>
            <a:solidFill>
              <a:srgbClr val="1E4DBC">
                <a:alpha val="12000"/>
              </a:srgbClr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71500" y="3333750"/>
              <a:ext cx="3429000" cy="1285875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42950" y="3476625"/>
              <a:ext cx="14982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COMPUTE STACK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9618" y="3742849"/>
              <a:ext cx="11988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Vercel Serverless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762000" y="39433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9618" y="4038124"/>
              <a:ext cx="29891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REST APIs run on serverless python functions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9618" y="4228624"/>
              <a:ext cx="3067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Low latency executions without persistent VM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381500" y="3333750"/>
            <a:ext cx="3457575" cy="1314450"/>
            <a:chOff x="4381500" y="3333750"/>
            <a:chExt cx="3457575" cy="1314450"/>
          </a:xfrm>
        </p:grpSpPr>
        <p:sp>
          <p:nvSpPr>
            <p:cNvPr id="47" name="Rectangle 47"/>
            <p:cNvSpPr/>
            <p:nvPr/>
          </p:nvSpPr>
          <p:spPr>
            <a:xfrm>
              <a:off x="4381500" y="3333750"/>
              <a:ext cx="3429000" cy="1285875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4410075" y="3362325"/>
              <a:ext cx="3429000" cy="1285875"/>
            </a:xfrm>
            <a:prstGeom prst="rect">
              <a:avLst/>
            </a:prstGeom>
            <a:solidFill>
              <a:srgbClr val="FF5C8A">
                <a:alpha val="15000"/>
              </a:srgbClr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381500" y="3333750"/>
              <a:ext cx="3429000" cy="1285875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552950" y="3476625"/>
              <a:ext cx="15682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FRONTEND LAYER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559618" y="3742849"/>
              <a:ext cx="12738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HTML5 / Vanilla CSS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4572000" y="39433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559618" y="4038124"/>
              <a:ext cx="2657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High contrast dark dashboard interface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559618" y="4228624"/>
              <a:ext cx="30281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Collapsing trace tree explorer &amp; radar canvas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191500" y="3333750"/>
            <a:ext cx="3457575" cy="1314450"/>
            <a:chOff x="8191500" y="3333750"/>
            <a:chExt cx="3457575" cy="1314450"/>
          </a:xfrm>
        </p:grpSpPr>
        <p:sp>
          <p:nvSpPr>
            <p:cNvPr id="56" name="Rectangle 56"/>
            <p:cNvSpPr/>
            <p:nvPr/>
          </p:nvSpPr>
          <p:spPr>
            <a:xfrm>
              <a:off x="8191500" y="3333750"/>
              <a:ext cx="3429000" cy="1285875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220075" y="3362325"/>
              <a:ext cx="3429000" cy="1285875"/>
            </a:xfrm>
            <a:prstGeom prst="rect">
              <a:avLst/>
            </a:prstGeom>
            <a:solidFill>
              <a:srgbClr val="1E4DBC">
                <a:alpha val="40000"/>
              </a:srgbClr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191500" y="3333750"/>
              <a:ext cx="3429000" cy="1285875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362950" y="3476625"/>
              <a:ext cx="16082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EFE0"/>
                  </a:solidFill>
                  <a:latin typeface="Impact"/>
                  <a:ea typeface="Microsoft YaHei"/>
                  <a:cs typeface="Impact"/>
                </a:rPr>
                <a:t>OTLP TELEMETRY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69618" y="3742849"/>
              <a:ext cx="12397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Arize Phoenix SaaS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8382000" y="39433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F5EFE0">
                  <a:alpha val="30000"/>
                </a:srgbClr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69618" y="4038124"/>
              <a:ext cx="2885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● Spans, token parameters, &amp; prompt counts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69618" y="4228624"/>
              <a:ext cx="29891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● Direct OTLP trace files exported to SaaS link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71500" y="4953000"/>
            <a:ext cx="11049000" cy="952500"/>
            <a:chOff x="571500" y="4953000"/>
            <a:chExt cx="11049000" cy="952500"/>
          </a:xfrm>
        </p:grpSpPr>
        <p:sp>
          <p:nvSpPr>
            <p:cNvPr id="65" name="Rectangle 65"/>
            <p:cNvSpPr/>
            <p:nvPr/>
          </p:nvSpPr>
          <p:spPr>
            <a:xfrm>
              <a:off x="571500" y="4953000"/>
              <a:ext cx="11049000" cy="952500"/>
            </a:xfrm>
            <a:prstGeom prst="rect">
              <a:avLst/>
            </a:prstGeom>
            <a:solidFill>
              <a:srgbClr val="EAE2CC"/>
            </a:solidFill>
            <a:ln w="19050">
              <a:solidFill>
                <a:srgbClr val="1A1A1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95338" y="5164931"/>
              <a:ext cx="27615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4DBC"/>
                  </a:solidFill>
                  <a:latin typeface="Consolas"/>
                  <a:ea typeface="Microsoft YaHei"/>
                  <a:cs typeface="Consolas"/>
                </a:rPr>
                <a:t>OBSERVABILITY &amp; HACKATHON CRITERIA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7242" y="5419249"/>
              <a:ext cx="73966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▸ Serverless telemetry: Synchronous trace shipper ensures OTel data ingestion before lambda container suspension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7242" y="5609749"/>
              <a:ext cx="67010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▸ Grounded AI: Every agent output is anchored in live financial metrics and real-time news search results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61022" y="6572250"/>
            <a:ext cx="11069956" cy="250031"/>
            <a:chOff x="561022" y="6572250"/>
            <a:chExt cx="11069956" cy="250031"/>
          </a:xfrm>
        </p:grpSpPr>
        <p:sp>
          <p:nvSpPr>
            <p:cNvPr id="70" name="Line 70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A1A1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61022" y="6654641"/>
              <a:ext cx="22597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AEGIS CODEX — PROPRIETARY &amp; CONFIDENTIAL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933438" y="6654641"/>
              <a:ext cx="6975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SLIDE 05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8" grpId="0"/>
      <p:bldP spid="37" grpId="0"/>
      <p:bldP spid="46" grpId="0"/>
      <p:bldP spid="55" grpId="0"/>
      <p:bldP spid="64" grpId="0"/>
      <p:bldP spid="6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-8164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533400"/>
            <a:ext cx="7887462" cy="785812"/>
            <a:chOff x="571500" y="533400"/>
            <a:chExt cx="7887462" cy="785812"/>
          </a:xfrm>
        </p:grpSpPr>
        <p:sp>
          <p:nvSpPr>
            <p:cNvPr id="4" name="Rectangle 4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00075" y="561975"/>
              <a:ext cx="133350" cy="647700"/>
            </a:xfrm>
            <a:prstGeom prst="rect">
              <a:avLst/>
            </a:prstGeom>
            <a:solidFill>
              <a:srgbClr val="FF5C8A">
                <a:alpha val="70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580" y="544830"/>
              <a:ext cx="7628382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IMPLEMENTATION PLAN / ROADMAP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2965" y="1105852"/>
              <a:ext cx="33660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05 · PRODUCT DEPLOYMENT &amp; MILESTONES ROADMAP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4478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1A1A1A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1143000" y="3429000"/>
            <a:ext cx="9906000" cy="47625"/>
            <a:chOff x="1143000" y="3429000"/>
            <a:chExt cx="9906000" cy="47625"/>
          </a:xfrm>
        </p:grpSpPr>
        <p:sp>
          <p:nvSpPr>
            <p:cNvPr id="11" name="Line 11"/>
            <p:cNvSpPr/>
            <p:nvPr/>
          </p:nvSpPr>
          <p:spPr>
            <a:xfrm>
              <a:off x="1143000" y="34290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38100">
              <a:solidFill>
                <a:srgbClr val="1A1A1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34671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rgbClr val="FF5C8A">
                  <a:alpha val="80000"/>
                </a:srgbClr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142999" y="2057404"/>
            <a:ext cx="2229874" cy="2257422"/>
            <a:chOff x="1143000" y="2571750"/>
            <a:chExt cx="1743075" cy="1743075"/>
          </a:xfrm>
        </p:grpSpPr>
        <p:sp>
          <p:nvSpPr>
            <p:cNvPr id="14" name="Rectangle 14"/>
            <p:cNvSpPr/>
            <p:nvPr/>
          </p:nvSpPr>
          <p:spPr>
            <a:xfrm>
              <a:off x="1143000" y="2571750"/>
              <a:ext cx="1714500" cy="17145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71575" y="2600325"/>
              <a:ext cx="1714500" cy="1714500"/>
            </a:xfrm>
            <a:prstGeom prst="rect">
              <a:avLst/>
            </a:prstGeom>
            <a:solidFill>
              <a:srgbClr val="FF5C8A">
                <a:alpha val="55000"/>
              </a:srgbClr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143000" y="2571750"/>
              <a:ext cx="1714500" cy="17145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402300" y="2726055"/>
              <a:ext cx="29137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10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N1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3267075"/>
              <a:ext cx="10082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EFE0"/>
                  </a:solidFill>
                  <a:latin typeface="Impact"/>
                  <a:ea typeface="Microsoft YaHei"/>
                  <a:cs typeface="Impact"/>
                </a:rPr>
                <a:t>IMMEDIATE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23022" y="3530441"/>
              <a:ext cx="1247824" cy="196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F5C8A"/>
                  </a:solidFill>
                  <a:latin typeface="Consolas"/>
                  <a:ea typeface="Microsoft YaHei"/>
                  <a:cs typeface="Consolas"/>
                </a:rPr>
                <a:t>SEC EDGAR 10-K Item 1A auto-parsing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22070" y="3808095"/>
              <a:ext cx="12170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● Auto-parse Item 1A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22070" y="3979545"/>
              <a:ext cx="11329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filing risk sections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619499" y="2057404"/>
            <a:ext cx="2229874" cy="2257422"/>
            <a:chOff x="3619500" y="2571750"/>
            <a:chExt cx="1743075" cy="1743075"/>
          </a:xfrm>
        </p:grpSpPr>
        <p:sp>
          <p:nvSpPr>
            <p:cNvPr id="23" name="Rectangle 23"/>
            <p:cNvSpPr/>
            <p:nvPr/>
          </p:nvSpPr>
          <p:spPr>
            <a:xfrm>
              <a:off x="3619500" y="2571750"/>
              <a:ext cx="1714500" cy="17145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648075" y="2600325"/>
              <a:ext cx="1714500" cy="1714500"/>
            </a:xfrm>
            <a:prstGeom prst="rect">
              <a:avLst/>
            </a:prstGeom>
            <a:solidFill>
              <a:srgbClr val="1E4DBC">
                <a:alpha val="55000"/>
              </a:srgbClr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619500" y="2571750"/>
              <a:ext cx="1714500" cy="17145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08792" y="2726055"/>
              <a:ext cx="36137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1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N2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90950" y="3267075"/>
              <a:ext cx="11282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NEXT WEEKS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99523" y="3530441"/>
              <a:ext cx="1341024" cy="196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E4DBC"/>
                  </a:solidFill>
                  <a:latin typeface="Consolas"/>
                  <a:ea typeface="Microsoft YaHei"/>
                  <a:cs typeface="Consolas"/>
                </a:rPr>
                <a:t>SEBI / BSE filing integration for Indian equities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98570" y="3808095"/>
              <a:ext cx="14630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Support Indian equities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98570" y="3979545"/>
              <a:ext cx="14210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Deep regulatory scans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0" y="2057404"/>
            <a:ext cx="2461513" cy="2257422"/>
            <a:chOff x="6096000" y="2571750"/>
            <a:chExt cx="1924145" cy="1743075"/>
          </a:xfrm>
        </p:grpSpPr>
        <p:sp>
          <p:nvSpPr>
            <p:cNvPr id="32" name="Rectangle 32"/>
            <p:cNvSpPr/>
            <p:nvPr/>
          </p:nvSpPr>
          <p:spPr>
            <a:xfrm>
              <a:off x="6096000" y="2571750"/>
              <a:ext cx="1714500" cy="171450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124575" y="2600325"/>
              <a:ext cx="1714500" cy="1714500"/>
            </a:xfrm>
            <a:prstGeom prst="rect">
              <a:avLst/>
            </a:prstGeom>
            <a:solidFill>
              <a:srgbClr val="E8A02E">
                <a:alpha val="30000"/>
              </a:srgbClr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96000" y="2571750"/>
              <a:ext cx="1714500" cy="171450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29284" y="2726055"/>
              <a:ext cx="41738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1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67450" y="3267075"/>
              <a:ext cx="10182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QUARTER 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6022" y="3530441"/>
              <a:ext cx="1370648" cy="196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Portfolio-level analysis + cross-holding correlation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75070" y="3808095"/>
              <a:ext cx="1691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Cross-holding correlations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75070" y="3979545"/>
              <a:ext cx="17450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McKinsey-style PDF reports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572501" y="2057404"/>
            <a:ext cx="2261922" cy="2257422"/>
            <a:chOff x="8572500" y="2571750"/>
            <a:chExt cx="1768126" cy="1743075"/>
          </a:xfrm>
        </p:grpSpPr>
        <p:sp>
          <p:nvSpPr>
            <p:cNvPr id="41" name="Rectangle 41"/>
            <p:cNvSpPr/>
            <p:nvPr/>
          </p:nvSpPr>
          <p:spPr>
            <a:xfrm>
              <a:off x="8572500" y="2571750"/>
              <a:ext cx="1714500" cy="171450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601075" y="2600325"/>
              <a:ext cx="1714500" cy="1714500"/>
            </a:xfrm>
            <a:prstGeom prst="rect">
              <a:avLst/>
            </a:prstGeom>
            <a:solidFill>
              <a:srgbClr val="1E4DBC">
                <a:alpha val="12000"/>
              </a:srgbClr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572500" y="2571750"/>
              <a:ext cx="1714500" cy="171450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05784" y="2726055"/>
              <a:ext cx="41738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10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Q4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743950" y="3267075"/>
              <a:ext cx="10182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QUARTER 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52523" y="3530442"/>
              <a:ext cx="1152525" cy="2940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"Lying Gap" news vs filing divergence = alpha signal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51570" y="3808095"/>
              <a:ext cx="15890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News vs filing divergence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51570" y="3979545"/>
              <a:ext cx="12710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Slack/Teams alarms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4667250"/>
            <a:ext cx="11049000" cy="1333500"/>
            <a:chOff x="571500" y="4667250"/>
            <a:chExt cx="11049000" cy="1333500"/>
          </a:xfrm>
        </p:grpSpPr>
        <p:sp>
          <p:nvSpPr>
            <p:cNvPr id="50" name="Rectangle 50"/>
            <p:cNvSpPr/>
            <p:nvPr/>
          </p:nvSpPr>
          <p:spPr>
            <a:xfrm>
              <a:off x="571500" y="4667250"/>
              <a:ext cx="11049000" cy="1333500"/>
            </a:xfrm>
            <a:prstGeom prst="rect">
              <a:avLst/>
            </a:prstGeom>
            <a:solidFill>
              <a:srgbClr val="EAE2CC"/>
            </a:solidFill>
            <a:ln w="19050">
              <a:solidFill>
                <a:srgbClr val="1A1A1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96290" y="4839652"/>
              <a:ext cx="27171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4DBC"/>
                  </a:solidFill>
                  <a:latin typeface="Consolas"/>
                  <a:ea typeface="Microsoft YaHei"/>
                  <a:cs typeface="Consolas"/>
                </a:rPr>
                <a:t>⚡ VALUE ADDED ROADMAP ENHANCEMENTS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7242" y="5085874"/>
              <a:ext cx="92039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"Lying Gap" detection (Q4) surfaces alpha signals when company filing statements significantly diverge from live geopolitical search streams.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7242" y="5276374"/>
              <a:ext cx="85213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Macro Feedback loops dynamically scale global baseline fear indexes, scaling asset haircuts non-linearly if Chaos scores exceed 0.8.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97242" y="5466874"/>
              <a:ext cx="77867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Slack and Teams webhook alerting ensures portfolio managers receive immediate verdicts directly on corporate devices.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1022" y="6572250"/>
            <a:ext cx="11069956" cy="250031"/>
            <a:chOff x="561022" y="6572250"/>
            <a:chExt cx="11069956" cy="250031"/>
          </a:xfrm>
        </p:grpSpPr>
        <p:sp>
          <p:nvSpPr>
            <p:cNvPr id="56" name="Line 56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A1A1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61022" y="6654641"/>
              <a:ext cx="22597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AEGIS CODEX — PROPRIETARY &amp; CONFIDENTIAL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933438" y="6654641"/>
              <a:ext cx="6975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SLIDE 06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  <p:bldP spid="31" grpId="0"/>
      <p:bldP spid="40" grpId="0"/>
      <p:bldP spid="49" grpId="0"/>
      <p:bldP spid="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533400"/>
            <a:ext cx="8559546" cy="785812"/>
            <a:chOff x="571500" y="533400"/>
            <a:chExt cx="8559546" cy="785812"/>
          </a:xfrm>
        </p:grpSpPr>
        <p:sp>
          <p:nvSpPr>
            <p:cNvPr id="4" name="Rectangle 4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00075" y="561975"/>
              <a:ext cx="133350" cy="647700"/>
            </a:xfrm>
            <a:prstGeom prst="rect">
              <a:avLst/>
            </a:prstGeom>
            <a:solidFill>
              <a:srgbClr val="FF5C8A">
                <a:alpha val="70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580" y="544830"/>
              <a:ext cx="830046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FEASIBILITY &amp; GO-TO-MARKET MODEL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2965" y="1105852"/>
              <a:ext cx="33170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06 · BUSINESS MODEL, TIERING &amp; HIGH UNIT MARGINS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4478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1A1A1A"/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571500" y="1714500"/>
            <a:ext cx="2505075" cy="1743075"/>
            <a:chOff x="571500" y="1714500"/>
            <a:chExt cx="2505075" cy="1743075"/>
          </a:xfrm>
        </p:grpSpPr>
        <p:sp>
          <p:nvSpPr>
            <p:cNvPr id="11" name="Rectangle 11"/>
            <p:cNvSpPr/>
            <p:nvPr/>
          </p:nvSpPr>
          <p:spPr>
            <a:xfrm>
              <a:off x="571500" y="1714500"/>
              <a:ext cx="2476500" cy="17145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0075" y="1743075"/>
              <a:ext cx="2476500" cy="1714500"/>
            </a:xfrm>
            <a:prstGeom prst="rect">
              <a:avLst/>
            </a:prstGeom>
            <a:solidFill>
              <a:srgbClr val="FF5C8A">
                <a:alpha val="55000"/>
              </a:srgb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714500"/>
              <a:ext cx="2476500" cy="17145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1045" y="1869758"/>
              <a:ext cx="145008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FREE / RETAIL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4855" y="2140268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$0 / MONTH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762000" y="24003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F5EFE0">
                  <a:alpha val="3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9618" y="2542699"/>
              <a:ext cx="16174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● Retail &amp; Student access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9618" y="273319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● 3 watchlist analyses/day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618" y="2923699"/>
              <a:ext cx="18644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● Main funnel lead generation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333750" y="1714500"/>
            <a:ext cx="2505075" cy="1743075"/>
            <a:chOff x="3333750" y="1714500"/>
            <a:chExt cx="2505075" cy="1743075"/>
          </a:xfrm>
        </p:grpSpPr>
        <p:sp>
          <p:nvSpPr>
            <p:cNvPr id="21" name="Rectangle 21"/>
            <p:cNvSpPr/>
            <p:nvPr/>
          </p:nvSpPr>
          <p:spPr>
            <a:xfrm>
              <a:off x="3333750" y="1714500"/>
              <a:ext cx="2476500" cy="17145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362325" y="1743075"/>
              <a:ext cx="2476500" cy="1714500"/>
            </a:xfrm>
            <a:prstGeom prst="rect">
              <a:avLst/>
            </a:prstGeom>
            <a:solidFill>
              <a:srgbClr val="1E4DBC">
                <a:alpha val="55000"/>
              </a:srgbClr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333750" y="1714500"/>
              <a:ext cx="2476500" cy="17145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503295" y="1869758"/>
              <a:ext cx="944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PRO TIER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07105" y="2140268"/>
              <a:ext cx="14803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$99 - $299 / MO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524250" y="24003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511868" y="2542699"/>
              <a:ext cx="19035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Analysts, RIAs &amp; Small funds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11868" y="2733199"/>
              <a:ext cx="18644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Unlimited risk scan vectors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11868" y="2923699"/>
              <a:ext cx="17474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PDF IC memo exports &amp; API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3714750"/>
            <a:ext cx="2505075" cy="1743075"/>
            <a:chOff x="571500" y="3714750"/>
            <a:chExt cx="2505075" cy="1743075"/>
          </a:xfrm>
        </p:grpSpPr>
        <p:sp>
          <p:nvSpPr>
            <p:cNvPr id="31" name="Rectangle 31"/>
            <p:cNvSpPr/>
            <p:nvPr/>
          </p:nvSpPr>
          <p:spPr>
            <a:xfrm>
              <a:off x="571500" y="3714750"/>
              <a:ext cx="2476500" cy="171450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0075" y="3743325"/>
              <a:ext cx="2476500" cy="1714500"/>
            </a:xfrm>
            <a:prstGeom prst="rect">
              <a:avLst/>
            </a:prstGeom>
            <a:solidFill>
              <a:srgbClr val="E8A02E">
                <a:alpha val="30000"/>
              </a:srgbClr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71500" y="3714750"/>
              <a:ext cx="2476500" cy="171450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1045" y="3870008"/>
              <a:ext cx="14940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INSTITUTIONAL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4855" y="4140518"/>
              <a:ext cx="14330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$2K - $10K / MO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62000" y="44005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9618" y="4542949"/>
              <a:ext cx="21505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Hedge funds, PE, Family offices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9618" y="4733449"/>
              <a:ext cx="16824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White-label integrations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9618" y="4923949"/>
              <a:ext cx="18644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SEC EDGAR / SEBI compliance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333750" y="3714750"/>
            <a:ext cx="2505075" cy="1743075"/>
            <a:chOff x="3333750" y="3714750"/>
            <a:chExt cx="2505075" cy="1743075"/>
          </a:xfrm>
        </p:grpSpPr>
        <p:sp>
          <p:nvSpPr>
            <p:cNvPr id="41" name="Rectangle 41"/>
            <p:cNvSpPr/>
            <p:nvPr/>
          </p:nvSpPr>
          <p:spPr>
            <a:xfrm>
              <a:off x="3333750" y="3714750"/>
              <a:ext cx="2476500" cy="171450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3362325" y="3743325"/>
              <a:ext cx="2476500" cy="1714500"/>
            </a:xfrm>
            <a:prstGeom prst="rect">
              <a:avLst/>
            </a:prstGeom>
            <a:solidFill>
              <a:srgbClr val="1E4DBC">
                <a:alpha val="12000"/>
              </a:srgbClr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333750" y="3714750"/>
              <a:ext cx="2476500" cy="171450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503295" y="3870008"/>
              <a:ext cx="12080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API SERVICE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07105" y="4140518"/>
              <a:ext cx="14803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PER-CALL METER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3524250" y="44005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511868" y="4542949"/>
              <a:ext cx="17214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Fintechs &amp; Robo-advisors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511868" y="4733449"/>
              <a:ext cx="18449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Embeddable stress modules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511868" y="4923949"/>
              <a:ext cx="19165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Direct programmatic access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191250" y="1714500"/>
            <a:ext cx="5429250" cy="3714750"/>
            <a:chOff x="6191250" y="1714500"/>
            <a:chExt cx="5429250" cy="3714750"/>
          </a:xfrm>
        </p:grpSpPr>
        <p:sp>
          <p:nvSpPr>
            <p:cNvPr id="51" name="Rectangle 51"/>
            <p:cNvSpPr/>
            <p:nvPr/>
          </p:nvSpPr>
          <p:spPr>
            <a:xfrm>
              <a:off x="6191250" y="1714500"/>
              <a:ext cx="5429250" cy="3714750"/>
            </a:xfrm>
            <a:prstGeom prst="rect">
              <a:avLst/>
            </a:prstGeom>
            <a:solidFill>
              <a:srgbClr val="EAE2CC"/>
            </a:solidFill>
            <a:ln w="19050">
              <a:solidFill>
                <a:srgbClr val="1A1A1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54140" y="1948815"/>
              <a:ext cx="37541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AEGIS PLATFORM UNIT ECONOMICS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6477000" y="22669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14288">
              <a:solidFill>
                <a:srgbClr val="1A1A1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61760" y="2489835"/>
              <a:ext cx="19459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OpenAI / NVIDIA API Cost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64618" y="2704624"/>
              <a:ext cx="35677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5A"/>
                  </a:solidFill>
                  <a:latin typeface="Arial"/>
                  <a:ea typeface="Microsoft YaHei"/>
                  <a:cs typeface="Arial"/>
                </a:rPr>
                <a:t>Extracts, filters, and formats structured parameters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715690" y="2520315"/>
              <a:ext cx="16419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$0.03 - $0.08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61760" y="3108960"/>
              <a:ext cx="15258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Tavily Search Cost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64618" y="3323749"/>
              <a:ext cx="31321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5A5A"/>
                  </a:solidFill>
                  <a:latin typeface="Arial"/>
                  <a:ea typeface="Microsoft YaHei"/>
                  <a:cs typeface="Arial"/>
                </a:rPr>
                <a:t>Triggers 6 parallel web-scrape intelligence paths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775698" y="3139440"/>
              <a:ext cx="15819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$0.01 - $0.02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477000" y="3714750"/>
              <a:ext cx="4857750" cy="47625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50355" y="38738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GROSS MARGIN AT SCALE: &gt;95%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793048" y="3906202"/>
              <a:ext cx="1364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EXCEL UNIT METRICS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59855" y="4378642"/>
              <a:ext cx="29686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EMERGING MARKET (BSE/NSE) MOAT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64618" y="4657249"/>
              <a:ext cx="48223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Western risk analytics engines neglect emerging market micro-structures.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64618" y="4847749"/>
              <a:ext cx="43933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Aegis Codex fills this gap with native Indian market feeds (NSE/BSE),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64618" y="5038249"/>
              <a:ext cx="45948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providing a massive data and positioning moat for local asset managers.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61022" y="6572250"/>
            <a:ext cx="11069956" cy="250031"/>
            <a:chOff x="561022" y="6572250"/>
            <a:chExt cx="11069956" cy="250031"/>
          </a:xfrm>
        </p:grpSpPr>
        <p:sp>
          <p:nvSpPr>
            <p:cNvPr id="68" name="Line 68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A1A1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61022" y="6654641"/>
              <a:ext cx="22597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AEGIS CODEX — PROPRIETARY &amp; CONFIDENTIAL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933438" y="6654641"/>
              <a:ext cx="6975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SLIDE 07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0" grpId="0"/>
      <p:bldP spid="40" grpId="0"/>
      <p:bldP spid="50" grpId="0"/>
      <p:bldP spid="6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533400"/>
            <a:ext cx="6903339" cy="785812"/>
            <a:chOff x="571500" y="533400"/>
            <a:chExt cx="6903339" cy="785812"/>
          </a:xfrm>
        </p:grpSpPr>
        <p:sp>
          <p:nvSpPr>
            <p:cNvPr id="4" name="Rectangle 4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00075" y="561975"/>
              <a:ext cx="133350" cy="647700"/>
            </a:xfrm>
            <a:prstGeom prst="rect">
              <a:avLst/>
            </a:prstGeom>
            <a:solidFill>
              <a:srgbClr val="FF5C8A">
                <a:alpha val="70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533400"/>
              <a:ext cx="133350" cy="6477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580" y="544830"/>
              <a:ext cx="664425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INNOVATIONS &amp; FUTURE SCOPE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2965" y="1105852"/>
              <a:ext cx="36391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07 · PRODUCT DIFFERENTIATORS &amp; NOVEL METHODOLOGY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4478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1A1A1A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571500" y="1714500"/>
            <a:ext cx="2505075" cy="3076575"/>
            <a:chOff x="571500" y="1714500"/>
            <a:chExt cx="2505075" cy="3076575"/>
          </a:xfrm>
        </p:grpSpPr>
        <p:sp>
          <p:nvSpPr>
            <p:cNvPr id="11" name="Rectangle 11"/>
            <p:cNvSpPr/>
            <p:nvPr/>
          </p:nvSpPr>
          <p:spPr>
            <a:xfrm>
              <a:off x="571500" y="1714500"/>
              <a:ext cx="2476500" cy="30480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0075" y="1743075"/>
              <a:ext cx="2476500" cy="3048000"/>
            </a:xfrm>
            <a:prstGeom prst="rect">
              <a:avLst/>
            </a:prstGeom>
            <a:solidFill>
              <a:srgbClr val="FF5C8A">
                <a:alpha val="55000"/>
              </a:srgb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714500"/>
              <a:ext cx="2476500" cy="3048000"/>
            </a:xfrm>
            <a:prstGeom prst="rect">
              <a:avLst/>
            </a:prstGeom>
            <a:solidFill>
              <a:srgbClr val="1E4DB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2950" y="1933575"/>
              <a:ext cx="2081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4855" y="2187892"/>
              <a:ext cx="13934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5EFE0"/>
                  </a:solidFill>
                  <a:latin typeface="Impact"/>
                  <a:ea typeface="Microsoft YaHei"/>
                  <a:cs typeface="Impact"/>
                </a:rPr>
                <a:t>CONTEXT-AWARE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4855" y="2378392"/>
              <a:ext cx="101541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5EFE0"/>
                  </a:solidFill>
                  <a:latin typeface="Impact"/>
                  <a:ea typeface="Microsoft YaHei"/>
                  <a:cs typeface="Impact"/>
                </a:rPr>
                <a:t>VALUATIONS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62000" y="26670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F5EFE0">
                  <a:alpha val="30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9618" y="2847499"/>
              <a:ext cx="14419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Five distinct valuation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618" y="3037999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methodologies dynamically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9618" y="3228499"/>
              <a:ext cx="15719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routed based on sector.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18" y="341899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Banks are stress-tested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9618" y="3609499"/>
              <a:ext cx="14094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via P/BV; cyclicals via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9618" y="3799999"/>
              <a:ext cx="15329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EBITDA; and high growth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9618" y="3990499"/>
              <a:ext cx="15784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equities via EV/Revenue.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9618" y="4180999"/>
              <a:ext cx="1500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All haircuts are market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9618" y="437149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EFE0"/>
                  </a:solidFill>
                  <a:latin typeface="Arial"/>
                  <a:ea typeface="Microsoft YaHei"/>
                  <a:cs typeface="Arial"/>
                </a:rPr>
                <a:t>anchored and downward.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333750" y="1714500"/>
            <a:ext cx="2505075" cy="3076575"/>
            <a:chOff x="3333750" y="1714500"/>
            <a:chExt cx="2505075" cy="3076575"/>
          </a:xfrm>
        </p:grpSpPr>
        <p:sp>
          <p:nvSpPr>
            <p:cNvPr id="28" name="Rectangle 28"/>
            <p:cNvSpPr/>
            <p:nvPr/>
          </p:nvSpPr>
          <p:spPr>
            <a:xfrm>
              <a:off x="3333750" y="1714500"/>
              <a:ext cx="2476500" cy="30480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362325" y="1743075"/>
              <a:ext cx="2476500" cy="3048000"/>
            </a:xfrm>
            <a:prstGeom prst="rect">
              <a:avLst/>
            </a:prstGeom>
            <a:solidFill>
              <a:srgbClr val="1E4DBC">
                <a:alpha val="55000"/>
              </a:srgbClr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333750" y="1714500"/>
              <a:ext cx="2476500" cy="304800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05200" y="1933575"/>
              <a:ext cx="2581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02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07105" y="2187892"/>
              <a:ext cx="101541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GEOGRAPHIC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07105" y="2378392"/>
              <a:ext cx="11324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INTELLIGENCE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3524250" y="26670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511868" y="2847499"/>
              <a:ext cx="1656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Every identified threat is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11868" y="3037999"/>
              <a:ext cx="1500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instantly mapped to its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11868" y="3228499"/>
              <a:ext cx="1396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physical coordinates.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11868" y="3418999"/>
              <a:ext cx="16109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Curved convergence lines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11868" y="3609499"/>
              <a:ext cx="15784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illustrate concentration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11868" y="3799999"/>
              <a:ext cx="18774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of supply chain vulnerability,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11868" y="3990499"/>
              <a:ext cx="19100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instantly visualising exposure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11868" y="4180999"/>
              <a:ext cx="14094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risks globally in under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11868" y="4371499"/>
              <a:ext cx="7788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60 seconds.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96000" y="1714500"/>
            <a:ext cx="2505075" cy="3076575"/>
            <a:chOff x="6096000" y="1714500"/>
            <a:chExt cx="2505075" cy="3076575"/>
          </a:xfrm>
        </p:grpSpPr>
        <p:sp>
          <p:nvSpPr>
            <p:cNvPr id="45" name="Rectangle 45"/>
            <p:cNvSpPr/>
            <p:nvPr/>
          </p:nvSpPr>
          <p:spPr>
            <a:xfrm>
              <a:off x="6096000" y="1714500"/>
              <a:ext cx="2476500" cy="304800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124575" y="1743075"/>
              <a:ext cx="2476500" cy="3048000"/>
            </a:xfrm>
            <a:prstGeom prst="rect">
              <a:avLst/>
            </a:prstGeom>
            <a:solidFill>
              <a:srgbClr val="E8A02E">
                <a:alpha val="30000"/>
              </a:srgbClr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96000" y="1714500"/>
              <a:ext cx="2476500" cy="304800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67450" y="1933575"/>
              <a:ext cx="2581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03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69355" y="2187892"/>
              <a:ext cx="9524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CONTAGION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69355" y="2378392"/>
              <a:ext cx="8263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CASCADES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6286500" y="26670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74118" y="2847499"/>
              <a:ext cx="16499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Models Risk A → Effect B →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74118" y="3037999"/>
              <a:ext cx="17929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Effect C propagation chain.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74118" y="3228499"/>
              <a:ext cx="2020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Computes compound correlation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74118" y="3418999"/>
              <a:ext cx="16499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(ρ → 1) as baseline market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74118" y="3609499"/>
              <a:ext cx="1396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chaos index steps up.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74118" y="379999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Inspired by Kiyotaki-Moore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74118" y="3990499"/>
              <a:ext cx="11104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credit cycles and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74118" y="4180999"/>
              <a:ext cx="13639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Minsky Moment asset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74118" y="4371499"/>
              <a:ext cx="12794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repricing formulas.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8858250" y="1714500"/>
            <a:ext cx="2505075" cy="3076575"/>
            <a:chOff x="8858250" y="1714500"/>
            <a:chExt cx="2505075" cy="3076575"/>
          </a:xfrm>
        </p:grpSpPr>
        <p:sp>
          <p:nvSpPr>
            <p:cNvPr id="62" name="Rectangle 62"/>
            <p:cNvSpPr/>
            <p:nvPr/>
          </p:nvSpPr>
          <p:spPr>
            <a:xfrm>
              <a:off x="8858250" y="1714500"/>
              <a:ext cx="2476500" cy="3048000"/>
            </a:xfrm>
            <a:prstGeom prst="rect">
              <a:avLst/>
            </a:prstGeom>
            <a:solidFill>
              <a:srgbClr val="F5EFE0"/>
            </a:solidFill>
            <a:ln w="19050">
              <a:solidFill>
                <a:srgbClr val="1A1A1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886825" y="1743075"/>
              <a:ext cx="2476500" cy="3048000"/>
            </a:xfrm>
            <a:prstGeom prst="rect">
              <a:avLst/>
            </a:prstGeom>
            <a:solidFill>
              <a:srgbClr val="1E4DBC">
                <a:alpha val="12000"/>
              </a:srgbClr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858250" y="1714500"/>
              <a:ext cx="2476500" cy="3048000"/>
            </a:xfrm>
            <a:prstGeom prst="rect">
              <a:avLst/>
            </a:prstGeom>
            <a:noFill/>
            <a:ln w="19050">
              <a:solidFill>
                <a:srgbClr val="1A1A1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029700" y="1933575"/>
              <a:ext cx="2581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5C8A"/>
                  </a:solidFill>
                  <a:latin typeface="Impact"/>
                  <a:ea typeface="Microsoft YaHei"/>
                  <a:cs typeface="Impact"/>
                </a:rPr>
                <a:t>04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031605" y="2187892"/>
              <a:ext cx="12674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METHODOLOGY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031605" y="2378392"/>
              <a:ext cx="12224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1A"/>
                  </a:solidFill>
                  <a:latin typeface="Impact"/>
                  <a:ea typeface="Microsoft YaHei"/>
                  <a:cs typeface="Impact"/>
                </a:rPr>
                <a:t>TRANSPARENCY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9048750" y="26670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1A1A1A">
                  <a:alpha val="30000"/>
                </a:srgbClr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036368" y="2847499"/>
              <a:ext cx="17929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No proprietary black boxes.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036368" y="3037999"/>
              <a:ext cx="17994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Every mathematical formula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036368" y="3228499"/>
              <a:ext cx="17539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is shown explicitly with the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036368" y="3418999"/>
              <a:ext cx="1929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actual parameters plugged in.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036368" y="360949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Every routing decision is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036368" y="3799999"/>
              <a:ext cx="1545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fully flagged, and agent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36368" y="3990499"/>
              <a:ext cx="17994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reasoning traces are visible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036368" y="4180999"/>
              <a:ext cx="14614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for complete auditable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036368" y="4371499"/>
              <a:ext cx="10388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reproducibility.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71500" y="4953000"/>
            <a:ext cx="10763250" cy="952500"/>
            <a:chOff x="571500" y="4953000"/>
            <a:chExt cx="10763250" cy="952500"/>
          </a:xfrm>
        </p:grpSpPr>
        <p:sp>
          <p:nvSpPr>
            <p:cNvPr id="79" name="Rectangle 79"/>
            <p:cNvSpPr/>
            <p:nvPr/>
          </p:nvSpPr>
          <p:spPr>
            <a:xfrm>
              <a:off x="571500" y="4953000"/>
              <a:ext cx="10763250" cy="952500"/>
            </a:xfrm>
            <a:prstGeom prst="rect">
              <a:avLst/>
            </a:prstGeom>
            <a:solidFill>
              <a:srgbClr val="EAE2CC"/>
            </a:solidFill>
            <a:ln w="19050">
              <a:solidFill>
                <a:srgbClr val="1A1A1A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96290" y="5144452"/>
              <a:ext cx="24230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4DBC"/>
                  </a:solidFill>
                  <a:latin typeface="Consolas"/>
                  <a:ea typeface="Microsoft YaHei"/>
                  <a:cs typeface="Consolas"/>
                </a:rPr>
                <a:t>⚡ COMPARED TO MARKET STANDARDS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97242" y="5371624"/>
              <a:ext cx="85733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Standard tools like Bloomberg or MSCI Barra utilize static, historical parameters and require days of manually configured scenarios.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97242" y="5562124"/>
              <a:ext cx="98149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● Aegis Codex uses real-time LLM tribunal debates to instantly generate forward-looking, highly localized, and mathematically transparent stress tests.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61022" y="6572250"/>
            <a:ext cx="11069956" cy="250031"/>
            <a:chOff x="561022" y="6572250"/>
            <a:chExt cx="11069956" cy="250031"/>
          </a:xfrm>
        </p:grpSpPr>
        <p:sp>
          <p:nvSpPr>
            <p:cNvPr id="84" name="Line 84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A1A1A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61022" y="6654641"/>
              <a:ext cx="22597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AEGIS CODEX — PROPRIETARY &amp; CONFIDENTIAL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933438" y="6654641"/>
              <a:ext cx="6975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SLIDE 08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4" grpId="0"/>
      <p:bldP spid="61" grpId="0"/>
      <p:bldP spid="78" grpId="0"/>
      <p:bldP spid="8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476250" y="476250"/>
            <a:ext cx="11239500" cy="5524500"/>
          </a:xfrm>
          <a:prstGeom prst="rect">
            <a:avLst/>
          </a:prstGeom>
          <a:noFill/>
          <a:ln w="38100">
            <a:solidFill>
              <a:srgbClr val="1E4DBC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14350" y="514350"/>
            <a:ext cx="11239500" cy="5524500"/>
          </a:xfrm>
          <a:prstGeom prst="rect">
            <a:avLst/>
          </a:prstGeom>
          <a:noFill/>
          <a:ln w="19050">
            <a:solidFill>
              <a:srgbClr val="FF5C8A">
                <a:alpha val="80000"/>
              </a:srgbClr>
            </a:solidFill>
          </a:ln>
        </p:spPr>
      </p:sp>
      <p:sp>
        <p:nvSpPr>
          <p:cNvPr id="6" name="Rectangle 6"/>
          <p:cNvSpPr/>
          <p:nvPr/>
        </p:nvSpPr>
        <p:spPr>
          <a:xfrm>
            <a:off x="476250" y="476250"/>
            <a:ext cx="11239500" cy="333375"/>
          </a:xfrm>
          <a:prstGeom prst="rect">
            <a:avLst/>
          </a:prstGeom>
          <a:solidFill>
            <a:srgbClr val="1E4DBC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5295900" y="1390650"/>
            <a:ext cx="1562100" cy="1562100"/>
            <a:chOff x="5295900" y="1390650"/>
            <a:chExt cx="1562100" cy="1562100"/>
          </a:xfrm>
        </p:grpSpPr>
        <p:sp>
          <p:nvSpPr>
            <p:cNvPr id="8" name="Freeform 8"/>
            <p:cNvSpPr/>
            <p:nvPr/>
          </p:nvSpPr>
          <p:spPr>
            <a:xfrm>
              <a:off x="5334000" y="142875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190500" y="0"/>
                  </a:moveTo>
                  <a:lnTo>
                    <a:pt x="1333500" y="0"/>
                  </a:lnTo>
                  <a:lnTo>
                    <a:pt x="1524000" y="571500"/>
                  </a:lnTo>
                  <a:lnTo>
                    <a:pt x="762000" y="15240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FF5C8A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295900" y="139065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190500" y="0"/>
                  </a:moveTo>
                  <a:lnTo>
                    <a:pt x="1333500" y="0"/>
                  </a:lnTo>
                  <a:lnTo>
                    <a:pt x="1524000" y="571500"/>
                  </a:lnTo>
                  <a:lnTo>
                    <a:pt x="762000" y="15240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1E4DBC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5810250" y="1952625"/>
              <a:ext cx="571500" cy="381000"/>
            </a:xfrm>
            <a:custGeom>
              <a:avLst/>
              <a:gdLst/>
              <a:ahLst/>
              <a:cxnLst/>
              <a:rect l="l" t="t" r="r" b="b"/>
              <a:pathLst>
                <a:path w="571500" h="381000">
                  <a:moveTo>
                    <a:pt x="0" y="142875"/>
                  </a:moveTo>
                  <a:lnTo>
                    <a:pt x="190500" y="381000"/>
                  </a:lnTo>
                  <a:lnTo>
                    <a:pt x="571500" y="0"/>
                  </a:lnTo>
                </a:path>
              </a:pathLst>
            </a:custGeom>
            <a:noFill/>
            <a:ln w="76200" cap="rnd">
              <a:solidFill>
                <a:srgbClr val="F5EFE0"/>
              </a:solidFill>
              <a:round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2868549" y="3107769"/>
            <a:ext cx="7202764" cy="999768"/>
            <a:chOff x="2694908" y="3202305"/>
            <a:chExt cx="7202764" cy="999768"/>
          </a:xfrm>
        </p:grpSpPr>
        <p:sp>
          <p:nvSpPr>
            <p:cNvPr id="12" name="TextBox 12"/>
            <p:cNvSpPr txBox="1"/>
            <p:nvPr/>
          </p:nvSpPr>
          <p:spPr>
            <a:xfrm>
              <a:off x="2694908" y="3202305"/>
              <a:ext cx="680218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"THE NEXT CRISIS WON'T LOOK LIKE THE LAST ONE."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78197" y="3728085"/>
              <a:ext cx="5835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Aegis Codex doesn't predict which domino falls — it maps every domino,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78331" y="3958233"/>
              <a:ext cx="69193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debates which are unstable, and calculates what happens when they all fall at once.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714750" y="4619625"/>
            <a:ext cx="4800600" cy="895350"/>
            <a:chOff x="3714750" y="4619625"/>
            <a:chExt cx="4800600" cy="895350"/>
          </a:xfrm>
        </p:grpSpPr>
        <p:sp>
          <p:nvSpPr>
            <p:cNvPr id="16" name="Rectangle 16"/>
            <p:cNvSpPr/>
            <p:nvPr/>
          </p:nvSpPr>
          <p:spPr>
            <a:xfrm>
              <a:off x="3714750" y="4619625"/>
              <a:ext cx="4762500" cy="85725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752850" y="4657725"/>
              <a:ext cx="4762500" cy="857250"/>
            </a:xfrm>
            <a:prstGeom prst="rect">
              <a:avLst/>
            </a:prstGeom>
            <a:solidFill>
              <a:srgbClr val="1E4DBC">
                <a:alpha val="60000"/>
              </a:srgbClr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714750" y="4619625"/>
              <a:ext cx="4762500" cy="857250"/>
            </a:xfrm>
            <a:prstGeom prst="rect">
              <a:avLst/>
            </a:prstGeom>
            <a:solidFill>
              <a:srgbClr val="FF5C8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8392" y="4774882"/>
              <a:ext cx="249521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E4DBC"/>
                  </a:solidFill>
                  <a:latin typeface="Impact"/>
                  <a:ea typeface="Microsoft YaHei"/>
                  <a:cs typeface="Impact"/>
                </a:rPr>
                <a:t>MOOSA TALHA AL KASERI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68278" y="5085874"/>
              <a:ext cx="30554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IIM Kozhikode · Batch 29 | Aegis Platform Lead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03661" y="5242738"/>
              <a:ext cx="344652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E4DBC"/>
                  </a:solidFill>
                  <a:latin typeface="Consolas"/>
                  <a:ea typeface="Microsoft YaHei"/>
                  <a:cs typeface="Consolas"/>
                </a:rPr>
                <a:t>github.com/mugichan-5627/Aegis_Codex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61022" y="6572250"/>
            <a:ext cx="11069956" cy="250031"/>
            <a:chOff x="561022" y="6572250"/>
            <a:chExt cx="11069956" cy="250031"/>
          </a:xfrm>
        </p:grpSpPr>
        <p:sp>
          <p:nvSpPr>
            <p:cNvPr id="23" name="Line 23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A1A1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1022" y="6654641"/>
              <a:ext cx="22597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AEGIS CODEX — PROPRIETARY &amp; CONFIDENTIAL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33438" y="6654641"/>
              <a:ext cx="6975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5A5A5A"/>
                  </a:solidFill>
                  <a:latin typeface="Consolas"/>
                  <a:ea typeface="Microsoft YaHei"/>
                  <a:cs typeface="Consolas"/>
                </a:rPr>
                <a:t>SLIDE 09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7703</Words>
  <Application>Microsoft Office PowerPoint</Application>
  <PresentationFormat>Widescreen</PresentationFormat>
  <Paragraphs>293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Moosa Al Kaseri</cp:lastModifiedBy>
  <cp:revision>3</cp:revision>
  <dcterms:created xsi:type="dcterms:W3CDTF">2013-01-27T09:14:16Z</dcterms:created>
  <dcterms:modified xsi:type="dcterms:W3CDTF">2026-06-14T11:39:33Z</dcterms:modified>
  <cp:category/>
</cp:coreProperties>
</file>